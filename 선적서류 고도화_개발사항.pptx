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4"/>
  </p:sldMasterIdLst>
  <p:notesMasterIdLst>
    <p:notesMasterId r:id="rId10"/>
  </p:notesMasterIdLst>
  <p:sldIdLst>
    <p:sldId id="267" r:id="rId5"/>
    <p:sldId id="298" r:id="rId6"/>
    <p:sldId id="319" r:id="rId7"/>
    <p:sldId id="316" r:id="rId8"/>
    <p:sldId id="32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1018151-E07B-704E-9781-23DC52458105}">
          <p14:sldIdLst>
            <p14:sldId id="267"/>
            <p14:sldId id="298"/>
            <p14:sldId id="319"/>
            <p14:sldId id="316"/>
            <p14:sldId id="32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333399"/>
    <a:srgbClr val="9DB1CF"/>
    <a:srgbClr val="66CCFF"/>
    <a:srgbClr val="FFCC00"/>
    <a:srgbClr val="FF5050"/>
    <a:srgbClr val="99FF99"/>
    <a:srgbClr val="53C8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03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85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01" d="100"/>
          <a:sy n="101" d="100"/>
        </p:scale>
        <p:origin x="346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박지원(Park, Jiwon)/책임매니저/배전전략영업과/HD현대일렉트릭" userId="c67b2d6d-06b1-44d0-95dc-61dd776ab529" providerId="ADAL" clId="{C22D36B1-3645-4D1F-B7B6-C44B5E7AB99E}"/>
    <pc:docChg chg="modSld">
      <pc:chgData name="박지원(Park, Jiwon)/책임매니저/배전전략영업과/HD현대일렉트릭" userId="c67b2d6d-06b1-44d0-95dc-61dd776ab529" providerId="ADAL" clId="{C22D36B1-3645-4D1F-B7B6-C44B5E7AB99E}" dt="2026-03-09T07:37:41.106" v="1" actId="1076"/>
      <pc:docMkLst>
        <pc:docMk/>
      </pc:docMkLst>
      <pc:sldChg chg="modSp mod">
        <pc:chgData name="박지원(Park, Jiwon)/책임매니저/배전전략영업과/HD현대일렉트릭" userId="c67b2d6d-06b1-44d0-95dc-61dd776ab529" providerId="ADAL" clId="{C22D36B1-3645-4D1F-B7B6-C44B5E7AB99E}" dt="2026-03-09T07:37:41.106" v="1" actId="1076"/>
        <pc:sldMkLst>
          <pc:docMk/>
          <pc:sldMk cId="2876419466" sldId="323"/>
        </pc:sldMkLst>
        <pc:spChg chg="mod">
          <ac:chgData name="박지원(Park, Jiwon)/책임매니저/배전전략영업과/HD현대일렉트릭" userId="c67b2d6d-06b1-44d0-95dc-61dd776ab529" providerId="ADAL" clId="{C22D36B1-3645-4D1F-B7B6-C44B5E7AB99E}" dt="2026-03-09T07:37:41.106" v="1" actId="1076"/>
          <ac:spMkLst>
            <pc:docMk/>
            <pc:sldMk cId="2876419466" sldId="323"/>
            <ac:spMk id="4" creationId="{BD9D9315-A73A-ED02-B4C2-97C2CCBECCAA}"/>
          </ac:spMkLst>
        </pc:spChg>
        <pc:spChg chg="mod">
          <ac:chgData name="박지원(Park, Jiwon)/책임매니저/배전전략영업과/HD현대일렉트릭" userId="c67b2d6d-06b1-44d0-95dc-61dd776ab529" providerId="ADAL" clId="{C22D36B1-3645-4D1F-B7B6-C44B5E7AB99E}" dt="2026-03-09T07:37:36.596" v="0" actId="1076"/>
          <ac:spMkLst>
            <pc:docMk/>
            <pc:sldMk cId="2876419466" sldId="323"/>
            <ac:spMk id="18" creationId="{03AE66D7-5313-8A27-E108-9530D7D68413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781204-F587-4A35-936B-0FEE094F33FE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pPr latinLnBrk="1"/>
          <a:endParaRPr lang="ko-KR" altLang="en-US"/>
        </a:p>
      </dgm:t>
    </dgm:pt>
    <dgm:pt modelId="{E508426A-1DEB-4D0B-BE26-8557636F0C0A}">
      <dgm:prSet phldrT="[텍스트]" custT="1"/>
      <dgm:spPr>
        <a:solidFill>
          <a:srgbClr val="00B0F0"/>
        </a:solidFill>
      </dgm:spPr>
      <dgm:t>
        <a:bodyPr/>
        <a:lstStyle/>
        <a:p>
          <a:pPr latinLnBrk="1"/>
          <a:r>
            <a:rPr lang="ko-KR" altLang="en-US" sz="1400" b="0" dirty="0">
              <a:solidFill>
                <a:schemeClr val="bg1"/>
              </a:solidFill>
              <a:latin typeface="HD현대체  Medium" panose="02090600000101010101" pitchFamily="18" charset="-127"/>
              <a:ea typeface="HD현대체  Medium" panose="02090600000101010101" pitchFamily="18" charset="-127"/>
            </a:rPr>
            <a:t>수주 입력</a:t>
          </a:r>
        </a:p>
      </dgm:t>
    </dgm:pt>
    <dgm:pt modelId="{95EF08E8-B2DB-40C2-A761-044615E28D23}" type="parTrans" cxnId="{A9EDB18C-1E8C-4919-B432-4DF10D734E47}">
      <dgm:prSet/>
      <dgm:spPr/>
      <dgm:t>
        <a:bodyPr/>
        <a:lstStyle/>
        <a:p>
          <a:pPr latinLnBrk="1"/>
          <a:endParaRPr lang="ko-KR" altLang="en-US"/>
        </a:p>
      </dgm:t>
    </dgm:pt>
    <dgm:pt modelId="{E81F6B6F-2F29-4E28-AD6F-F86AB54FDE42}" type="sibTrans" cxnId="{A9EDB18C-1E8C-4919-B432-4DF10D734E47}">
      <dgm:prSet/>
      <dgm:spPr/>
      <dgm:t>
        <a:bodyPr/>
        <a:lstStyle/>
        <a:p>
          <a:pPr latinLnBrk="1"/>
          <a:endParaRPr lang="ko-KR" altLang="en-US"/>
        </a:p>
      </dgm:t>
    </dgm:pt>
    <dgm:pt modelId="{D97C66FB-121C-45C5-85AB-70829F5C5629}">
      <dgm:prSet phldrT="[텍스트]" custT="1"/>
      <dgm:spPr/>
      <dgm:t>
        <a:bodyPr/>
        <a:lstStyle/>
        <a:p>
          <a:pPr latinLnBrk="1"/>
          <a:r>
            <a:rPr lang="ko-KR" altLang="en-US" sz="1100" dirty="0">
              <a:latin typeface="HD현대체  Light" panose="02090600000101010101" pitchFamily="18" charset="-127"/>
              <a:ea typeface="HD현대체  Light" panose="02090600000101010101" pitchFamily="18" charset="-127"/>
            </a:rPr>
            <a:t>월말 수주 쏠림 </a:t>
          </a:r>
          <a:r>
            <a:rPr lang="en-US" altLang="ko-KR" sz="1100" dirty="0">
              <a:latin typeface="HD현대체  Light" panose="02090600000101010101" pitchFamily="18" charset="-127"/>
              <a:ea typeface="HD현대체  Light" panose="02090600000101010101" pitchFamily="18" charset="-127"/>
            </a:rPr>
            <a:t>(</a:t>
          </a:r>
          <a:r>
            <a:rPr lang="ko-KR" altLang="en-US" sz="1100" dirty="0">
              <a:latin typeface="HD현대체  Light" panose="02090600000101010101" pitchFamily="18" charset="-127"/>
              <a:ea typeface="HD현대체  Light" panose="02090600000101010101" pitchFamily="18" charset="-127"/>
            </a:rPr>
            <a:t>해외영업</a:t>
          </a:r>
          <a:r>
            <a:rPr lang="en-US" altLang="ko-KR" sz="1100" dirty="0">
              <a:latin typeface="HD현대체  Light" panose="02090600000101010101" pitchFamily="18" charset="-127"/>
              <a:ea typeface="HD현대체  Light" panose="02090600000101010101" pitchFamily="18" charset="-127"/>
            </a:rPr>
            <a:t>)</a:t>
          </a:r>
          <a:endParaRPr lang="ko-KR" altLang="en-US" sz="1100" dirty="0">
            <a:latin typeface="HD현대체  Light" panose="02090600000101010101" pitchFamily="18" charset="-127"/>
            <a:ea typeface="HD현대체  Light" panose="02090600000101010101" pitchFamily="18" charset="-127"/>
          </a:endParaRPr>
        </a:p>
      </dgm:t>
    </dgm:pt>
    <dgm:pt modelId="{A2C309BE-B367-4E91-8C59-7FE51391DFE4}" type="parTrans" cxnId="{15D2FA39-8405-45BC-813F-EA20CC03FE00}">
      <dgm:prSet/>
      <dgm:spPr/>
      <dgm:t>
        <a:bodyPr/>
        <a:lstStyle/>
        <a:p>
          <a:pPr latinLnBrk="1"/>
          <a:endParaRPr lang="ko-KR" altLang="en-US"/>
        </a:p>
      </dgm:t>
    </dgm:pt>
    <dgm:pt modelId="{E9C11E39-72C6-47F2-9D9B-8A250CF43613}" type="sibTrans" cxnId="{15D2FA39-8405-45BC-813F-EA20CC03FE00}">
      <dgm:prSet/>
      <dgm:spPr/>
      <dgm:t>
        <a:bodyPr/>
        <a:lstStyle/>
        <a:p>
          <a:pPr latinLnBrk="1"/>
          <a:endParaRPr lang="ko-KR" altLang="en-US"/>
        </a:p>
      </dgm:t>
    </dgm:pt>
    <dgm:pt modelId="{477CB909-39D6-4E5A-809E-1E57CDF415B8}">
      <dgm:prSet phldrT="[텍스트]" custT="1"/>
      <dgm:spPr/>
      <dgm:t>
        <a:bodyPr/>
        <a:lstStyle/>
        <a:p>
          <a:pPr latinLnBrk="1"/>
          <a:r>
            <a:rPr lang="ko-KR" altLang="en-US" sz="1100" dirty="0">
              <a:latin typeface="HD현대체  Light" panose="02090600000101010101" pitchFamily="18" charset="-127"/>
              <a:ea typeface="HD현대체  Light" panose="02090600000101010101" pitchFamily="18" charset="-127"/>
            </a:rPr>
            <a:t>대부분 차월에 선적 요구됨</a:t>
          </a:r>
        </a:p>
      </dgm:t>
    </dgm:pt>
    <dgm:pt modelId="{9074535B-F49D-481C-BE8F-6269945B3CA8}" type="parTrans" cxnId="{7F94028C-80A7-4116-8DFA-98F3A5408565}">
      <dgm:prSet/>
      <dgm:spPr/>
      <dgm:t>
        <a:bodyPr/>
        <a:lstStyle/>
        <a:p>
          <a:pPr latinLnBrk="1"/>
          <a:endParaRPr lang="ko-KR" altLang="en-US"/>
        </a:p>
      </dgm:t>
    </dgm:pt>
    <dgm:pt modelId="{38B74B61-EC31-4151-AF02-B68F4A17BA32}" type="sibTrans" cxnId="{7F94028C-80A7-4116-8DFA-98F3A5408565}">
      <dgm:prSet/>
      <dgm:spPr/>
      <dgm:t>
        <a:bodyPr/>
        <a:lstStyle/>
        <a:p>
          <a:pPr latinLnBrk="1"/>
          <a:endParaRPr lang="ko-KR" altLang="en-US"/>
        </a:p>
      </dgm:t>
    </dgm:pt>
    <dgm:pt modelId="{C6017C0E-1913-40FA-A1D4-F6A8D637F829}">
      <dgm:prSet phldrT="[텍스트]" custT="1"/>
      <dgm:spPr>
        <a:solidFill>
          <a:srgbClr val="00B0F0"/>
        </a:solidFill>
      </dgm:spPr>
      <dgm:t>
        <a:bodyPr/>
        <a:lstStyle/>
        <a:p>
          <a:pPr latinLnBrk="1"/>
          <a:r>
            <a:rPr lang="ko-KR" altLang="en-US" sz="1400" b="0" dirty="0" err="1">
              <a:solidFill>
                <a:schemeClr val="bg1"/>
              </a:solidFill>
              <a:latin typeface="HD현대체  Medium" panose="02090600000101010101" pitchFamily="18" charset="-127"/>
              <a:ea typeface="HD현대체  Medium" panose="02090600000101010101" pitchFamily="18" charset="-127"/>
            </a:rPr>
            <a:t>가선적</a:t>
          </a:r>
          <a:r>
            <a:rPr lang="ko-KR" altLang="en-US" sz="1400" b="0" dirty="0">
              <a:solidFill>
                <a:schemeClr val="bg1"/>
              </a:solidFill>
              <a:latin typeface="HD현대체  Medium" panose="02090600000101010101" pitchFamily="18" charset="-127"/>
              <a:ea typeface="HD현대체  Medium" panose="02090600000101010101" pitchFamily="18" charset="-127"/>
            </a:rPr>
            <a:t> 서류</a:t>
          </a:r>
          <a:r>
            <a:rPr lang="en-US" altLang="ko-KR" sz="1400" b="0" baseline="30000" dirty="0">
              <a:solidFill>
                <a:schemeClr val="bg1"/>
              </a:solidFill>
              <a:latin typeface="HD현대체  Medium" panose="02090600000101010101" pitchFamily="18" charset="-127"/>
              <a:ea typeface="HD현대체  Medium" panose="02090600000101010101" pitchFamily="18" charset="-127"/>
            </a:rPr>
            <a:t>1)</a:t>
          </a:r>
          <a:r>
            <a:rPr lang="ko-KR" altLang="en-US" sz="1400" b="0" dirty="0">
              <a:solidFill>
                <a:schemeClr val="bg1"/>
              </a:solidFill>
              <a:latin typeface="HD현대체  Medium" panose="02090600000101010101" pitchFamily="18" charset="-127"/>
              <a:ea typeface="HD현대체  Medium" panose="02090600000101010101" pitchFamily="18" charset="-127"/>
            </a:rPr>
            <a:t> 작성</a:t>
          </a:r>
        </a:p>
      </dgm:t>
    </dgm:pt>
    <dgm:pt modelId="{DF7F6E8D-4EAA-4D67-AA38-FD2CEF194CA1}" type="parTrans" cxnId="{E922A991-ECA5-4E32-A96D-5B52430FAFC8}">
      <dgm:prSet/>
      <dgm:spPr/>
      <dgm:t>
        <a:bodyPr/>
        <a:lstStyle/>
        <a:p>
          <a:pPr latinLnBrk="1"/>
          <a:endParaRPr lang="ko-KR" altLang="en-US"/>
        </a:p>
      </dgm:t>
    </dgm:pt>
    <dgm:pt modelId="{891DB9EC-B062-4812-815E-2756EBFF4DDB}" type="sibTrans" cxnId="{E922A991-ECA5-4E32-A96D-5B52430FAFC8}">
      <dgm:prSet/>
      <dgm:spPr/>
      <dgm:t>
        <a:bodyPr/>
        <a:lstStyle/>
        <a:p>
          <a:pPr latinLnBrk="1"/>
          <a:endParaRPr lang="ko-KR" altLang="en-US"/>
        </a:p>
      </dgm:t>
    </dgm:pt>
    <dgm:pt modelId="{74FC51B4-1E72-4010-A3DF-4FC84F2AFEBF}">
      <dgm:prSet phldrT="[텍스트]" custT="1"/>
      <dgm:spPr/>
      <dgm:t>
        <a:bodyPr/>
        <a:lstStyle/>
        <a:p>
          <a:pPr latinLnBrk="1"/>
          <a:r>
            <a:rPr lang="ko-KR" altLang="en-US" sz="1100" dirty="0">
              <a:latin typeface="HD현대체  Light" panose="02090600000101010101" pitchFamily="18" charset="-127"/>
              <a:ea typeface="HD현대체  Light" panose="02090600000101010101" pitchFamily="18" charset="-127"/>
            </a:rPr>
            <a:t>선박 先부킹</a:t>
          </a:r>
        </a:p>
      </dgm:t>
    </dgm:pt>
    <dgm:pt modelId="{35CE4016-83BA-4419-BF85-70B07F6EFF42}" type="parTrans" cxnId="{79B6DF31-ABC6-4775-8D4D-858452243224}">
      <dgm:prSet/>
      <dgm:spPr/>
      <dgm:t>
        <a:bodyPr/>
        <a:lstStyle/>
        <a:p>
          <a:pPr latinLnBrk="1"/>
          <a:endParaRPr lang="ko-KR" altLang="en-US"/>
        </a:p>
      </dgm:t>
    </dgm:pt>
    <dgm:pt modelId="{0280F8BB-7DBA-45E7-A934-C5C1F67DAFA8}" type="sibTrans" cxnId="{79B6DF31-ABC6-4775-8D4D-858452243224}">
      <dgm:prSet/>
      <dgm:spPr/>
      <dgm:t>
        <a:bodyPr/>
        <a:lstStyle/>
        <a:p>
          <a:pPr latinLnBrk="1"/>
          <a:endParaRPr lang="ko-KR" altLang="en-US"/>
        </a:p>
      </dgm:t>
    </dgm:pt>
    <dgm:pt modelId="{C854A14A-F8E1-42E7-A49C-1E6F2618AC28}">
      <dgm:prSet phldrT="[텍스트]" custT="1"/>
      <dgm:spPr>
        <a:solidFill>
          <a:srgbClr val="00B0F0"/>
        </a:solidFill>
      </dgm:spPr>
      <dgm:t>
        <a:bodyPr/>
        <a:lstStyle/>
        <a:p>
          <a:pPr latinLnBrk="1"/>
          <a:r>
            <a:rPr lang="ko-KR" altLang="en-US" sz="1400" b="0" dirty="0">
              <a:solidFill>
                <a:schemeClr val="bg1"/>
              </a:solidFill>
              <a:latin typeface="HD현대체  Medium" panose="02090600000101010101" pitchFamily="18" charset="-127"/>
              <a:ea typeface="HD현대체  Medium" panose="02090600000101010101" pitchFamily="18" charset="-127"/>
            </a:rPr>
            <a:t>생산 및 포장</a:t>
          </a:r>
        </a:p>
      </dgm:t>
    </dgm:pt>
    <dgm:pt modelId="{7CC1AEEB-0EF0-40A0-B3CF-3E9BF5535A72}" type="parTrans" cxnId="{ACE6271C-FE15-460D-8C46-ABE98D3CFF19}">
      <dgm:prSet/>
      <dgm:spPr/>
      <dgm:t>
        <a:bodyPr/>
        <a:lstStyle/>
        <a:p>
          <a:pPr latinLnBrk="1"/>
          <a:endParaRPr lang="ko-KR" altLang="en-US"/>
        </a:p>
      </dgm:t>
    </dgm:pt>
    <dgm:pt modelId="{8E191C3F-F7B8-44D8-A5C2-15284111B8B2}" type="sibTrans" cxnId="{ACE6271C-FE15-460D-8C46-ABE98D3CFF19}">
      <dgm:prSet/>
      <dgm:spPr/>
      <dgm:t>
        <a:bodyPr/>
        <a:lstStyle/>
        <a:p>
          <a:pPr latinLnBrk="1"/>
          <a:endParaRPr lang="ko-KR" altLang="en-US"/>
        </a:p>
      </dgm:t>
    </dgm:pt>
    <dgm:pt modelId="{218AB516-12FC-476F-BE74-1518B2BC4569}">
      <dgm:prSet phldrT="[텍스트]" custT="1"/>
      <dgm:spPr/>
      <dgm:t>
        <a:bodyPr/>
        <a:lstStyle/>
        <a:p>
          <a:pPr latinLnBrk="1"/>
          <a:r>
            <a:rPr lang="ko-KR" altLang="en-US" sz="1100" dirty="0">
              <a:latin typeface="HD현대체  Light" panose="02090600000101010101" pitchFamily="18" charset="-127"/>
              <a:ea typeface="HD현대체  Light" panose="02090600000101010101" pitchFamily="18" charset="-127"/>
            </a:rPr>
            <a:t>선박 스케줄에 따른 생산 및 포장</a:t>
          </a:r>
        </a:p>
      </dgm:t>
    </dgm:pt>
    <dgm:pt modelId="{4C76C958-24E6-49F4-8C77-829E9E87666A}" type="parTrans" cxnId="{9EC2FF9E-EFB6-4BC9-A3E7-1DE9A5449CB9}">
      <dgm:prSet/>
      <dgm:spPr/>
      <dgm:t>
        <a:bodyPr/>
        <a:lstStyle/>
        <a:p>
          <a:pPr latinLnBrk="1"/>
          <a:endParaRPr lang="ko-KR" altLang="en-US"/>
        </a:p>
      </dgm:t>
    </dgm:pt>
    <dgm:pt modelId="{A1D73752-05E0-4EB4-8DB8-9E174C79CDB3}" type="sibTrans" cxnId="{9EC2FF9E-EFB6-4BC9-A3E7-1DE9A5449CB9}">
      <dgm:prSet/>
      <dgm:spPr/>
      <dgm:t>
        <a:bodyPr/>
        <a:lstStyle/>
        <a:p>
          <a:pPr latinLnBrk="1"/>
          <a:endParaRPr lang="ko-KR" altLang="en-US"/>
        </a:p>
      </dgm:t>
    </dgm:pt>
    <dgm:pt modelId="{853E0711-BAB1-4727-A335-06B80A2D2FCB}">
      <dgm:prSet phldrT="[텍스트]" custT="1"/>
      <dgm:spPr>
        <a:solidFill>
          <a:srgbClr val="00B0F0"/>
        </a:solidFill>
      </dgm:spPr>
      <dgm:t>
        <a:bodyPr/>
        <a:lstStyle/>
        <a:p>
          <a:pPr latinLnBrk="1"/>
          <a:r>
            <a:rPr lang="ko-KR" altLang="en-US" sz="1400" b="0" dirty="0">
              <a:solidFill>
                <a:schemeClr val="bg1"/>
              </a:solidFill>
              <a:latin typeface="HD현대체  Medium" panose="02090600000101010101" pitchFamily="18" charset="-127"/>
              <a:ea typeface="HD현대체  Medium" panose="02090600000101010101" pitchFamily="18" charset="-127"/>
            </a:rPr>
            <a:t>선적서류 작성</a:t>
          </a:r>
        </a:p>
      </dgm:t>
    </dgm:pt>
    <dgm:pt modelId="{6898577A-FF96-40D7-9803-6F0F91785DDD}" type="parTrans" cxnId="{F00A72B6-D649-4A32-BF95-E93350CE871E}">
      <dgm:prSet/>
      <dgm:spPr/>
      <dgm:t>
        <a:bodyPr/>
        <a:lstStyle/>
        <a:p>
          <a:pPr latinLnBrk="1"/>
          <a:endParaRPr lang="ko-KR" altLang="en-US"/>
        </a:p>
      </dgm:t>
    </dgm:pt>
    <dgm:pt modelId="{F5724857-6454-4EB0-B4EC-4A920A984862}" type="sibTrans" cxnId="{F00A72B6-D649-4A32-BF95-E93350CE871E}">
      <dgm:prSet/>
      <dgm:spPr/>
      <dgm:t>
        <a:bodyPr/>
        <a:lstStyle/>
        <a:p>
          <a:pPr latinLnBrk="1"/>
          <a:endParaRPr lang="ko-KR" altLang="en-US"/>
        </a:p>
      </dgm:t>
    </dgm:pt>
    <dgm:pt modelId="{0B0F92CD-AD2C-4162-AEA8-A17078185A40}">
      <dgm:prSet phldrT="[텍스트]" custT="1"/>
      <dgm:spPr/>
      <dgm:t>
        <a:bodyPr/>
        <a:lstStyle/>
        <a:p>
          <a:pPr latinLnBrk="1"/>
          <a:r>
            <a:rPr lang="ko-KR" altLang="en-US" sz="1100" dirty="0">
              <a:latin typeface="HD현대체  Light" panose="02090600000101010101" pitchFamily="18" charset="-127"/>
              <a:ea typeface="HD현대체  Light" panose="02090600000101010101" pitchFamily="18" charset="-127"/>
            </a:rPr>
            <a:t>컨테이너 종류 및 수량 예상</a:t>
          </a:r>
        </a:p>
      </dgm:t>
    </dgm:pt>
    <dgm:pt modelId="{3AC8228E-517B-44D1-B492-0287459C5F4C}" type="parTrans" cxnId="{8FE56A4C-1402-44AE-9423-562816E4534A}">
      <dgm:prSet/>
      <dgm:spPr/>
      <dgm:t>
        <a:bodyPr/>
        <a:lstStyle/>
        <a:p>
          <a:pPr latinLnBrk="1"/>
          <a:endParaRPr lang="ko-KR" altLang="en-US"/>
        </a:p>
      </dgm:t>
    </dgm:pt>
    <dgm:pt modelId="{33B5F450-8E65-48AD-ABC2-9FC5C26AAE87}" type="sibTrans" cxnId="{8FE56A4C-1402-44AE-9423-562816E4534A}">
      <dgm:prSet/>
      <dgm:spPr/>
      <dgm:t>
        <a:bodyPr/>
        <a:lstStyle/>
        <a:p>
          <a:pPr latinLnBrk="1"/>
          <a:endParaRPr lang="ko-KR" altLang="en-US"/>
        </a:p>
      </dgm:t>
    </dgm:pt>
    <dgm:pt modelId="{A17E55A8-66C0-4424-B6FE-D2CD251F8BCB}">
      <dgm:prSet phldrT="[텍스트]" custT="1"/>
      <dgm:spPr/>
      <dgm:t>
        <a:bodyPr/>
        <a:lstStyle/>
        <a:p>
          <a:pPr latinLnBrk="1"/>
          <a:r>
            <a:rPr lang="ko-KR" altLang="en-US" sz="1100" dirty="0">
              <a:latin typeface="HD현대체  Light" panose="02090600000101010101" pitchFamily="18" charset="-127"/>
              <a:ea typeface="HD현대체  Light" panose="02090600000101010101" pitchFamily="18" charset="-127"/>
            </a:rPr>
            <a:t>포장정보를 바탕으로 선적서류 작성</a:t>
          </a:r>
        </a:p>
      </dgm:t>
    </dgm:pt>
    <dgm:pt modelId="{97336851-A3CB-4A1E-B0F5-F97C84CFEC62}" type="parTrans" cxnId="{7CFF3E9F-0A45-4506-A8F4-7C4EE0B94D5A}">
      <dgm:prSet/>
      <dgm:spPr/>
      <dgm:t>
        <a:bodyPr/>
        <a:lstStyle/>
        <a:p>
          <a:pPr latinLnBrk="1"/>
          <a:endParaRPr lang="ko-KR" altLang="en-US"/>
        </a:p>
      </dgm:t>
    </dgm:pt>
    <dgm:pt modelId="{73214FAF-A88C-4D2A-9FB4-1D5EA4102BCE}" type="sibTrans" cxnId="{7CFF3E9F-0A45-4506-A8F4-7C4EE0B94D5A}">
      <dgm:prSet/>
      <dgm:spPr/>
      <dgm:t>
        <a:bodyPr/>
        <a:lstStyle/>
        <a:p>
          <a:pPr latinLnBrk="1"/>
          <a:endParaRPr lang="ko-KR" altLang="en-US"/>
        </a:p>
      </dgm:t>
    </dgm:pt>
    <dgm:pt modelId="{A6A69490-59ED-442E-8B77-D90518A1F23A}">
      <dgm:prSet phldrT="[텍스트]" custT="1"/>
      <dgm:spPr>
        <a:solidFill>
          <a:srgbClr val="00B0F0"/>
        </a:solidFill>
      </dgm:spPr>
      <dgm:t>
        <a:bodyPr/>
        <a:lstStyle/>
        <a:p>
          <a:pPr latinLnBrk="1"/>
          <a:r>
            <a:rPr lang="ko-KR" altLang="en-US" sz="1400" b="0" dirty="0">
              <a:solidFill>
                <a:schemeClr val="bg1"/>
              </a:solidFill>
              <a:latin typeface="HD현대체  Medium" panose="02090600000101010101" pitchFamily="18" charset="-127"/>
              <a:ea typeface="HD현대체  Medium" panose="02090600000101010101" pitchFamily="18" charset="-127"/>
            </a:rPr>
            <a:t>선적 </a:t>
          </a:r>
          <a:r>
            <a:rPr lang="en-US" altLang="ko-KR" sz="1400" b="0" dirty="0">
              <a:solidFill>
                <a:schemeClr val="bg1"/>
              </a:solidFill>
              <a:latin typeface="HD현대체  Medium" panose="02090600000101010101" pitchFamily="18" charset="-127"/>
              <a:ea typeface="HD현대체  Medium" panose="02090600000101010101" pitchFamily="18" charset="-127"/>
            </a:rPr>
            <a:t>or</a:t>
          </a:r>
        </a:p>
        <a:p>
          <a:pPr latinLnBrk="1"/>
          <a:r>
            <a:rPr lang="ko-KR" altLang="en-US" sz="1400" b="0" dirty="0">
              <a:solidFill>
                <a:schemeClr val="bg1"/>
              </a:solidFill>
              <a:latin typeface="HD현대체  Medium" panose="02090600000101010101" pitchFamily="18" charset="-127"/>
              <a:ea typeface="HD현대체  Medium" panose="02090600000101010101" pitchFamily="18" charset="-127"/>
            </a:rPr>
            <a:t>분할선적</a:t>
          </a:r>
          <a:r>
            <a:rPr lang="en-US" altLang="ko-KR" sz="1400" b="0" baseline="30000" dirty="0">
              <a:solidFill>
                <a:schemeClr val="bg1"/>
              </a:solidFill>
              <a:latin typeface="HD현대체  Medium" panose="02090600000101010101" pitchFamily="18" charset="-127"/>
              <a:ea typeface="HD현대체  Medium" panose="02090600000101010101" pitchFamily="18" charset="-127"/>
            </a:rPr>
            <a:t>2)</a:t>
          </a:r>
        </a:p>
      </dgm:t>
    </dgm:pt>
    <dgm:pt modelId="{0C205C0C-1A39-4EDB-8803-99BC46FE711D}" type="parTrans" cxnId="{8AF35E15-D6CE-474C-BAB2-5B9641F91580}">
      <dgm:prSet/>
      <dgm:spPr/>
      <dgm:t>
        <a:bodyPr/>
        <a:lstStyle/>
        <a:p>
          <a:pPr latinLnBrk="1"/>
          <a:endParaRPr lang="ko-KR" altLang="en-US"/>
        </a:p>
      </dgm:t>
    </dgm:pt>
    <dgm:pt modelId="{C7C5A1DB-40D3-4BDF-A560-E768ED941FA0}" type="sibTrans" cxnId="{8AF35E15-D6CE-474C-BAB2-5B9641F91580}">
      <dgm:prSet/>
      <dgm:spPr/>
      <dgm:t>
        <a:bodyPr/>
        <a:lstStyle/>
        <a:p>
          <a:pPr latinLnBrk="1"/>
          <a:endParaRPr lang="ko-KR" altLang="en-US"/>
        </a:p>
      </dgm:t>
    </dgm:pt>
    <dgm:pt modelId="{95822F7E-48E6-4980-A26C-21F7D53AAC9E}">
      <dgm:prSet phldrT="[텍스트]" custT="1"/>
      <dgm:spPr/>
      <dgm:t>
        <a:bodyPr/>
        <a:lstStyle/>
        <a:p>
          <a:pPr latinLnBrk="1"/>
          <a:r>
            <a:rPr lang="ko-KR" altLang="en-US" sz="1100" dirty="0">
              <a:latin typeface="HD현대체  Light" panose="02090600000101010101" pitchFamily="18" charset="-127"/>
              <a:ea typeface="HD현대체  Light" panose="02090600000101010101" pitchFamily="18" charset="-127"/>
            </a:rPr>
            <a:t>고객 확인 후 선적</a:t>
          </a:r>
        </a:p>
      </dgm:t>
    </dgm:pt>
    <dgm:pt modelId="{9E00BAF3-5F1F-427F-BE48-B9F9B7928A6A}" type="parTrans" cxnId="{7FAD167B-9A76-434E-B748-F5D82A0C8935}">
      <dgm:prSet/>
      <dgm:spPr/>
      <dgm:t>
        <a:bodyPr/>
        <a:lstStyle/>
        <a:p>
          <a:pPr latinLnBrk="1"/>
          <a:endParaRPr lang="ko-KR" altLang="en-US"/>
        </a:p>
      </dgm:t>
    </dgm:pt>
    <dgm:pt modelId="{2464085E-FEF5-4947-991C-898018C5902C}" type="sibTrans" cxnId="{7FAD167B-9A76-434E-B748-F5D82A0C8935}">
      <dgm:prSet/>
      <dgm:spPr/>
      <dgm:t>
        <a:bodyPr/>
        <a:lstStyle/>
        <a:p>
          <a:pPr latinLnBrk="1"/>
          <a:endParaRPr lang="ko-KR" altLang="en-US"/>
        </a:p>
      </dgm:t>
    </dgm:pt>
    <dgm:pt modelId="{039B58F8-BA48-43EB-9FAF-9A4FB3DEBF14}" type="pres">
      <dgm:prSet presAssocID="{17781204-F587-4A35-936B-0FEE094F33FE}" presName="Name0" presStyleCnt="0">
        <dgm:presLayoutVars>
          <dgm:dir/>
          <dgm:animLvl val="lvl"/>
          <dgm:resizeHandles val="exact"/>
        </dgm:presLayoutVars>
      </dgm:prSet>
      <dgm:spPr/>
    </dgm:pt>
    <dgm:pt modelId="{B9C29563-C61B-4736-A7F5-04A51DF5FDAB}" type="pres">
      <dgm:prSet presAssocID="{E508426A-1DEB-4D0B-BE26-8557636F0C0A}" presName="composite" presStyleCnt="0"/>
      <dgm:spPr/>
    </dgm:pt>
    <dgm:pt modelId="{110CDEF7-5309-4E76-935A-AAC935E13059}" type="pres">
      <dgm:prSet presAssocID="{E508426A-1DEB-4D0B-BE26-8557636F0C0A}" presName="parTx" presStyleLbl="node1" presStyleIdx="0" presStyleCnt="5" custScaleY="100000">
        <dgm:presLayoutVars>
          <dgm:chMax val="0"/>
          <dgm:chPref val="0"/>
          <dgm:bulletEnabled val="1"/>
        </dgm:presLayoutVars>
      </dgm:prSet>
      <dgm:spPr/>
    </dgm:pt>
    <dgm:pt modelId="{6E748F60-B44B-4ABA-9E66-6C61C5EB553D}" type="pres">
      <dgm:prSet presAssocID="{E508426A-1DEB-4D0B-BE26-8557636F0C0A}" presName="desTx" presStyleLbl="revTx" presStyleIdx="0" presStyleCnt="5">
        <dgm:presLayoutVars>
          <dgm:bulletEnabled val="1"/>
        </dgm:presLayoutVars>
      </dgm:prSet>
      <dgm:spPr/>
    </dgm:pt>
    <dgm:pt modelId="{4F823310-A158-4489-8112-C49CD94E07E9}" type="pres">
      <dgm:prSet presAssocID="{E81F6B6F-2F29-4E28-AD6F-F86AB54FDE42}" presName="space" presStyleCnt="0"/>
      <dgm:spPr/>
    </dgm:pt>
    <dgm:pt modelId="{374266CD-ED48-4DA9-B0C2-FD9BD5D00D63}" type="pres">
      <dgm:prSet presAssocID="{C6017C0E-1913-40FA-A1D4-F6A8D637F829}" presName="composite" presStyleCnt="0"/>
      <dgm:spPr/>
    </dgm:pt>
    <dgm:pt modelId="{AA90B50F-C1CF-4C3A-8108-F3693CB8CDDA}" type="pres">
      <dgm:prSet presAssocID="{C6017C0E-1913-40FA-A1D4-F6A8D637F829}" presName="parTx" presStyleLbl="node1" presStyleIdx="1" presStyleCnt="5" custScaleY="100000">
        <dgm:presLayoutVars>
          <dgm:chMax val="0"/>
          <dgm:chPref val="0"/>
          <dgm:bulletEnabled val="1"/>
        </dgm:presLayoutVars>
      </dgm:prSet>
      <dgm:spPr/>
    </dgm:pt>
    <dgm:pt modelId="{094619FF-9B1D-474E-8D55-1798FDCF55AE}" type="pres">
      <dgm:prSet presAssocID="{C6017C0E-1913-40FA-A1D4-F6A8D637F829}" presName="desTx" presStyleLbl="revTx" presStyleIdx="1" presStyleCnt="5">
        <dgm:presLayoutVars>
          <dgm:bulletEnabled val="1"/>
        </dgm:presLayoutVars>
      </dgm:prSet>
      <dgm:spPr/>
    </dgm:pt>
    <dgm:pt modelId="{B5033F7B-6B55-4AB1-B7A9-E9CB3CAB1DD3}" type="pres">
      <dgm:prSet presAssocID="{891DB9EC-B062-4812-815E-2756EBFF4DDB}" presName="space" presStyleCnt="0"/>
      <dgm:spPr/>
    </dgm:pt>
    <dgm:pt modelId="{A9AE5E77-046B-4B90-82B2-7F496DA8408F}" type="pres">
      <dgm:prSet presAssocID="{C854A14A-F8E1-42E7-A49C-1E6F2618AC28}" presName="composite" presStyleCnt="0"/>
      <dgm:spPr/>
    </dgm:pt>
    <dgm:pt modelId="{4FCECC32-9E7C-48EE-80FC-CA055D495787}" type="pres">
      <dgm:prSet presAssocID="{C854A14A-F8E1-42E7-A49C-1E6F2618AC28}" presName="parTx" presStyleLbl="node1" presStyleIdx="2" presStyleCnt="5" custScaleY="100000">
        <dgm:presLayoutVars>
          <dgm:chMax val="0"/>
          <dgm:chPref val="0"/>
          <dgm:bulletEnabled val="1"/>
        </dgm:presLayoutVars>
      </dgm:prSet>
      <dgm:spPr/>
    </dgm:pt>
    <dgm:pt modelId="{9A042AC7-30B5-43C1-83FD-94588002D0E6}" type="pres">
      <dgm:prSet presAssocID="{C854A14A-F8E1-42E7-A49C-1E6F2618AC28}" presName="desTx" presStyleLbl="revTx" presStyleIdx="2" presStyleCnt="5">
        <dgm:presLayoutVars>
          <dgm:bulletEnabled val="1"/>
        </dgm:presLayoutVars>
      </dgm:prSet>
      <dgm:spPr/>
    </dgm:pt>
    <dgm:pt modelId="{EA5D1BB3-BD30-4758-9BDC-C5DACD1A306C}" type="pres">
      <dgm:prSet presAssocID="{8E191C3F-F7B8-44D8-A5C2-15284111B8B2}" presName="space" presStyleCnt="0"/>
      <dgm:spPr/>
    </dgm:pt>
    <dgm:pt modelId="{82915D2B-449B-4479-A0BE-129F73F5CC77}" type="pres">
      <dgm:prSet presAssocID="{853E0711-BAB1-4727-A335-06B80A2D2FCB}" presName="composite" presStyleCnt="0"/>
      <dgm:spPr/>
    </dgm:pt>
    <dgm:pt modelId="{3D0A5190-3626-4C77-AFC2-EA27475333A5}" type="pres">
      <dgm:prSet presAssocID="{853E0711-BAB1-4727-A335-06B80A2D2FCB}" presName="parTx" presStyleLbl="node1" presStyleIdx="3" presStyleCnt="5" custScaleY="100000">
        <dgm:presLayoutVars>
          <dgm:chMax val="0"/>
          <dgm:chPref val="0"/>
          <dgm:bulletEnabled val="1"/>
        </dgm:presLayoutVars>
      </dgm:prSet>
      <dgm:spPr/>
    </dgm:pt>
    <dgm:pt modelId="{C8F6EB95-269E-4210-A7E8-A23C0C3E18E0}" type="pres">
      <dgm:prSet presAssocID="{853E0711-BAB1-4727-A335-06B80A2D2FCB}" presName="desTx" presStyleLbl="revTx" presStyleIdx="3" presStyleCnt="5">
        <dgm:presLayoutVars>
          <dgm:bulletEnabled val="1"/>
        </dgm:presLayoutVars>
      </dgm:prSet>
      <dgm:spPr/>
    </dgm:pt>
    <dgm:pt modelId="{45B526F0-9CB2-4ECF-BA4D-FB9EBA6BE258}" type="pres">
      <dgm:prSet presAssocID="{F5724857-6454-4EB0-B4EC-4A920A984862}" presName="space" presStyleCnt="0"/>
      <dgm:spPr/>
    </dgm:pt>
    <dgm:pt modelId="{49CDCAFA-7D8E-4329-B158-F125BA47190C}" type="pres">
      <dgm:prSet presAssocID="{A6A69490-59ED-442E-8B77-D90518A1F23A}" presName="composite" presStyleCnt="0"/>
      <dgm:spPr/>
    </dgm:pt>
    <dgm:pt modelId="{11DD0A6D-3DEF-469A-9745-531C86761957}" type="pres">
      <dgm:prSet presAssocID="{A6A69490-59ED-442E-8B77-D90518A1F23A}" presName="parTx" presStyleLbl="node1" presStyleIdx="4" presStyleCnt="5" custScaleY="100000">
        <dgm:presLayoutVars>
          <dgm:chMax val="0"/>
          <dgm:chPref val="0"/>
          <dgm:bulletEnabled val="1"/>
        </dgm:presLayoutVars>
      </dgm:prSet>
      <dgm:spPr/>
    </dgm:pt>
    <dgm:pt modelId="{781791C8-1A07-4945-B2E5-0130FD551DF6}" type="pres">
      <dgm:prSet presAssocID="{A6A69490-59ED-442E-8B77-D90518A1F23A}" presName="desTx" presStyleLbl="revTx" presStyleIdx="4" presStyleCnt="5">
        <dgm:presLayoutVars>
          <dgm:bulletEnabled val="1"/>
        </dgm:presLayoutVars>
      </dgm:prSet>
      <dgm:spPr/>
    </dgm:pt>
  </dgm:ptLst>
  <dgm:cxnLst>
    <dgm:cxn modelId="{8AF35E15-D6CE-474C-BAB2-5B9641F91580}" srcId="{17781204-F587-4A35-936B-0FEE094F33FE}" destId="{A6A69490-59ED-442E-8B77-D90518A1F23A}" srcOrd="4" destOrd="0" parTransId="{0C205C0C-1A39-4EDB-8803-99BC46FE711D}" sibTransId="{C7C5A1DB-40D3-4BDF-A560-E768ED941FA0}"/>
    <dgm:cxn modelId="{ACE6271C-FE15-460D-8C46-ABE98D3CFF19}" srcId="{17781204-F587-4A35-936B-0FEE094F33FE}" destId="{C854A14A-F8E1-42E7-A49C-1E6F2618AC28}" srcOrd="2" destOrd="0" parTransId="{7CC1AEEB-0EF0-40A0-B3CF-3E9BF5535A72}" sibTransId="{8E191C3F-F7B8-44D8-A5C2-15284111B8B2}"/>
    <dgm:cxn modelId="{588DC822-F1B6-4089-B84A-5AFBF5F8E6D9}" type="presOf" srcId="{A17E55A8-66C0-4424-B6FE-D2CD251F8BCB}" destId="{C8F6EB95-269E-4210-A7E8-A23C0C3E18E0}" srcOrd="0" destOrd="0" presId="urn:microsoft.com/office/officeart/2005/8/layout/chevron1"/>
    <dgm:cxn modelId="{79B6DF31-ABC6-4775-8D4D-858452243224}" srcId="{C6017C0E-1913-40FA-A1D4-F6A8D637F829}" destId="{74FC51B4-1E72-4010-A3DF-4FC84F2AFEBF}" srcOrd="0" destOrd="0" parTransId="{35CE4016-83BA-4419-BF85-70B07F6EFF42}" sibTransId="{0280F8BB-7DBA-45E7-A934-C5C1F67DAFA8}"/>
    <dgm:cxn modelId="{15D2FA39-8405-45BC-813F-EA20CC03FE00}" srcId="{E508426A-1DEB-4D0B-BE26-8557636F0C0A}" destId="{D97C66FB-121C-45C5-85AB-70829F5C5629}" srcOrd="0" destOrd="0" parTransId="{A2C309BE-B367-4E91-8C59-7FE51391DFE4}" sibTransId="{E9C11E39-72C6-47F2-9D9B-8A250CF43613}"/>
    <dgm:cxn modelId="{5067463C-2751-4341-8836-910210F01D76}" type="presOf" srcId="{95822F7E-48E6-4980-A26C-21F7D53AAC9E}" destId="{781791C8-1A07-4945-B2E5-0130FD551DF6}" srcOrd="0" destOrd="0" presId="urn:microsoft.com/office/officeart/2005/8/layout/chevron1"/>
    <dgm:cxn modelId="{DB4E0465-C246-4EAC-9236-6E89568048A5}" type="presOf" srcId="{D97C66FB-121C-45C5-85AB-70829F5C5629}" destId="{6E748F60-B44B-4ABA-9E66-6C61C5EB553D}" srcOrd="0" destOrd="0" presId="urn:microsoft.com/office/officeart/2005/8/layout/chevron1"/>
    <dgm:cxn modelId="{CDA70A47-1787-4618-A853-F8288ED2793C}" type="presOf" srcId="{E508426A-1DEB-4D0B-BE26-8557636F0C0A}" destId="{110CDEF7-5309-4E76-935A-AAC935E13059}" srcOrd="0" destOrd="0" presId="urn:microsoft.com/office/officeart/2005/8/layout/chevron1"/>
    <dgm:cxn modelId="{8FE56A4C-1402-44AE-9423-562816E4534A}" srcId="{C6017C0E-1913-40FA-A1D4-F6A8D637F829}" destId="{0B0F92CD-AD2C-4162-AEA8-A17078185A40}" srcOrd="1" destOrd="0" parTransId="{3AC8228E-517B-44D1-B492-0287459C5F4C}" sibTransId="{33B5F450-8E65-48AD-ABC2-9FC5C26AAE87}"/>
    <dgm:cxn modelId="{C2184C53-75B6-4A24-98C3-8D95E590CECD}" type="presOf" srcId="{C6017C0E-1913-40FA-A1D4-F6A8D637F829}" destId="{AA90B50F-C1CF-4C3A-8108-F3693CB8CDDA}" srcOrd="0" destOrd="0" presId="urn:microsoft.com/office/officeart/2005/8/layout/chevron1"/>
    <dgm:cxn modelId="{14FFA379-5801-4E53-A533-38309CEE3FB7}" type="presOf" srcId="{853E0711-BAB1-4727-A335-06B80A2D2FCB}" destId="{3D0A5190-3626-4C77-AFC2-EA27475333A5}" srcOrd="0" destOrd="0" presId="urn:microsoft.com/office/officeart/2005/8/layout/chevron1"/>
    <dgm:cxn modelId="{7FAD167B-9A76-434E-B748-F5D82A0C8935}" srcId="{A6A69490-59ED-442E-8B77-D90518A1F23A}" destId="{95822F7E-48E6-4980-A26C-21F7D53AAC9E}" srcOrd="0" destOrd="0" parTransId="{9E00BAF3-5F1F-427F-BE48-B9F9B7928A6A}" sibTransId="{2464085E-FEF5-4947-991C-898018C5902C}"/>
    <dgm:cxn modelId="{F7EFE27B-92F0-497C-AB06-1BD8B713B621}" type="presOf" srcId="{0B0F92CD-AD2C-4162-AEA8-A17078185A40}" destId="{094619FF-9B1D-474E-8D55-1798FDCF55AE}" srcOrd="0" destOrd="1" presId="urn:microsoft.com/office/officeart/2005/8/layout/chevron1"/>
    <dgm:cxn modelId="{7F94028C-80A7-4116-8DFA-98F3A5408565}" srcId="{E508426A-1DEB-4D0B-BE26-8557636F0C0A}" destId="{477CB909-39D6-4E5A-809E-1E57CDF415B8}" srcOrd="1" destOrd="0" parTransId="{9074535B-F49D-481C-BE8F-6269945B3CA8}" sibTransId="{38B74B61-EC31-4151-AF02-B68F4A17BA32}"/>
    <dgm:cxn modelId="{98EB2E8C-4A87-4B5F-BCD2-B57AEA62FEFF}" type="presOf" srcId="{74FC51B4-1E72-4010-A3DF-4FC84F2AFEBF}" destId="{094619FF-9B1D-474E-8D55-1798FDCF55AE}" srcOrd="0" destOrd="0" presId="urn:microsoft.com/office/officeart/2005/8/layout/chevron1"/>
    <dgm:cxn modelId="{A9EDB18C-1E8C-4919-B432-4DF10D734E47}" srcId="{17781204-F587-4A35-936B-0FEE094F33FE}" destId="{E508426A-1DEB-4D0B-BE26-8557636F0C0A}" srcOrd="0" destOrd="0" parTransId="{95EF08E8-B2DB-40C2-A761-044615E28D23}" sibTransId="{E81F6B6F-2F29-4E28-AD6F-F86AB54FDE42}"/>
    <dgm:cxn modelId="{E954268D-3502-44C4-BE63-F6CDB48F999C}" type="presOf" srcId="{C854A14A-F8E1-42E7-A49C-1E6F2618AC28}" destId="{4FCECC32-9E7C-48EE-80FC-CA055D495787}" srcOrd="0" destOrd="0" presId="urn:microsoft.com/office/officeart/2005/8/layout/chevron1"/>
    <dgm:cxn modelId="{E922A991-ECA5-4E32-A96D-5B52430FAFC8}" srcId="{17781204-F587-4A35-936B-0FEE094F33FE}" destId="{C6017C0E-1913-40FA-A1D4-F6A8D637F829}" srcOrd="1" destOrd="0" parTransId="{DF7F6E8D-4EAA-4D67-AA38-FD2CEF194CA1}" sibTransId="{891DB9EC-B062-4812-815E-2756EBFF4DDB}"/>
    <dgm:cxn modelId="{9EC2FF9E-EFB6-4BC9-A3E7-1DE9A5449CB9}" srcId="{C854A14A-F8E1-42E7-A49C-1E6F2618AC28}" destId="{218AB516-12FC-476F-BE74-1518B2BC4569}" srcOrd="0" destOrd="0" parTransId="{4C76C958-24E6-49F4-8C77-829E9E87666A}" sibTransId="{A1D73752-05E0-4EB4-8DB8-9E174C79CDB3}"/>
    <dgm:cxn modelId="{7CFF3E9F-0A45-4506-A8F4-7C4EE0B94D5A}" srcId="{853E0711-BAB1-4727-A335-06B80A2D2FCB}" destId="{A17E55A8-66C0-4424-B6FE-D2CD251F8BCB}" srcOrd="0" destOrd="0" parTransId="{97336851-A3CB-4A1E-B0F5-F97C84CFEC62}" sibTransId="{73214FAF-A88C-4D2A-9FB4-1D5EA4102BCE}"/>
    <dgm:cxn modelId="{9BF7E8A8-9488-4C0E-8B10-C0DD83F40A21}" type="presOf" srcId="{218AB516-12FC-476F-BE74-1518B2BC4569}" destId="{9A042AC7-30B5-43C1-83FD-94588002D0E6}" srcOrd="0" destOrd="0" presId="urn:microsoft.com/office/officeart/2005/8/layout/chevron1"/>
    <dgm:cxn modelId="{8DA510B6-A313-4572-9D0D-492D71F64999}" type="presOf" srcId="{A6A69490-59ED-442E-8B77-D90518A1F23A}" destId="{11DD0A6D-3DEF-469A-9745-531C86761957}" srcOrd="0" destOrd="0" presId="urn:microsoft.com/office/officeart/2005/8/layout/chevron1"/>
    <dgm:cxn modelId="{F00A72B6-D649-4A32-BF95-E93350CE871E}" srcId="{17781204-F587-4A35-936B-0FEE094F33FE}" destId="{853E0711-BAB1-4727-A335-06B80A2D2FCB}" srcOrd="3" destOrd="0" parTransId="{6898577A-FF96-40D7-9803-6F0F91785DDD}" sibTransId="{F5724857-6454-4EB0-B4EC-4A920A984862}"/>
    <dgm:cxn modelId="{F43E73C5-F639-4F21-A2D8-5EC0A3263EBF}" type="presOf" srcId="{17781204-F587-4A35-936B-0FEE094F33FE}" destId="{039B58F8-BA48-43EB-9FAF-9A4FB3DEBF14}" srcOrd="0" destOrd="0" presId="urn:microsoft.com/office/officeart/2005/8/layout/chevron1"/>
    <dgm:cxn modelId="{637BC8F3-351C-46B4-9E63-A2FB5D6BCEC3}" type="presOf" srcId="{477CB909-39D6-4E5A-809E-1E57CDF415B8}" destId="{6E748F60-B44B-4ABA-9E66-6C61C5EB553D}" srcOrd="0" destOrd="1" presId="urn:microsoft.com/office/officeart/2005/8/layout/chevron1"/>
    <dgm:cxn modelId="{ABCE9548-F120-44BA-AD40-B90141E99879}" type="presParOf" srcId="{039B58F8-BA48-43EB-9FAF-9A4FB3DEBF14}" destId="{B9C29563-C61B-4736-A7F5-04A51DF5FDAB}" srcOrd="0" destOrd="0" presId="urn:microsoft.com/office/officeart/2005/8/layout/chevron1"/>
    <dgm:cxn modelId="{0C541779-E134-41A7-B4CA-47870958DBE7}" type="presParOf" srcId="{B9C29563-C61B-4736-A7F5-04A51DF5FDAB}" destId="{110CDEF7-5309-4E76-935A-AAC935E13059}" srcOrd="0" destOrd="0" presId="urn:microsoft.com/office/officeart/2005/8/layout/chevron1"/>
    <dgm:cxn modelId="{8FD651F7-F07E-4747-95DF-5BA1C1A3A6A7}" type="presParOf" srcId="{B9C29563-C61B-4736-A7F5-04A51DF5FDAB}" destId="{6E748F60-B44B-4ABA-9E66-6C61C5EB553D}" srcOrd="1" destOrd="0" presId="urn:microsoft.com/office/officeart/2005/8/layout/chevron1"/>
    <dgm:cxn modelId="{198E4E4F-627A-41E8-9F1F-3225161A6C7F}" type="presParOf" srcId="{039B58F8-BA48-43EB-9FAF-9A4FB3DEBF14}" destId="{4F823310-A158-4489-8112-C49CD94E07E9}" srcOrd="1" destOrd="0" presId="urn:microsoft.com/office/officeart/2005/8/layout/chevron1"/>
    <dgm:cxn modelId="{F111E781-2A4B-42CE-9307-46F639571F11}" type="presParOf" srcId="{039B58F8-BA48-43EB-9FAF-9A4FB3DEBF14}" destId="{374266CD-ED48-4DA9-B0C2-FD9BD5D00D63}" srcOrd="2" destOrd="0" presId="urn:microsoft.com/office/officeart/2005/8/layout/chevron1"/>
    <dgm:cxn modelId="{8779A2B9-5CCC-418F-92FD-A0037A00B510}" type="presParOf" srcId="{374266CD-ED48-4DA9-B0C2-FD9BD5D00D63}" destId="{AA90B50F-C1CF-4C3A-8108-F3693CB8CDDA}" srcOrd="0" destOrd="0" presId="urn:microsoft.com/office/officeart/2005/8/layout/chevron1"/>
    <dgm:cxn modelId="{D5B4B771-2BF1-4299-A1C9-CE1D41495737}" type="presParOf" srcId="{374266CD-ED48-4DA9-B0C2-FD9BD5D00D63}" destId="{094619FF-9B1D-474E-8D55-1798FDCF55AE}" srcOrd="1" destOrd="0" presId="urn:microsoft.com/office/officeart/2005/8/layout/chevron1"/>
    <dgm:cxn modelId="{AC01CA8F-47B4-4A7A-A7BC-3E55ECFE02FF}" type="presParOf" srcId="{039B58F8-BA48-43EB-9FAF-9A4FB3DEBF14}" destId="{B5033F7B-6B55-4AB1-B7A9-E9CB3CAB1DD3}" srcOrd="3" destOrd="0" presId="urn:microsoft.com/office/officeart/2005/8/layout/chevron1"/>
    <dgm:cxn modelId="{9B3ADB45-7C73-4C23-B3D0-6D1F10351108}" type="presParOf" srcId="{039B58F8-BA48-43EB-9FAF-9A4FB3DEBF14}" destId="{A9AE5E77-046B-4B90-82B2-7F496DA8408F}" srcOrd="4" destOrd="0" presId="urn:microsoft.com/office/officeart/2005/8/layout/chevron1"/>
    <dgm:cxn modelId="{D63C9E23-84BD-441C-8D82-31188AF4CE7B}" type="presParOf" srcId="{A9AE5E77-046B-4B90-82B2-7F496DA8408F}" destId="{4FCECC32-9E7C-48EE-80FC-CA055D495787}" srcOrd="0" destOrd="0" presId="urn:microsoft.com/office/officeart/2005/8/layout/chevron1"/>
    <dgm:cxn modelId="{52A92576-4552-491E-8EB6-DDDE0E1812B3}" type="presParOf" srcId="{A9AE5E77-046B-4B90-82B2-7F496DA8408F}" destId="{9A042AC7-30B5-43C1-83FD-94588002D0E6}" srcOrd="1" destOrd="0" presId="urn:microsoft.com/office/officeart/2005/8/layout/chevron1"/>
    <dgm:cxn modelId="{865863F5-F3B7-491E-A5FE-F2F9DD844CFB}" type="presParOf" srcId="{039B58F8-BA48-43EB-9FAF-9A4FB3DEBF14}" destId="{EA5D1BB3-BD30-4758-9BDC-C5DACD1A306C}" srcOrd="5" destOrd="0" presId="urn:microsoft.com/office/officeart/2005/8/layout/chevron1"/>
    <dgm:cxn modelId="{CCB49CD8-7F89-449A-B79E-7600A6DEAF4C}" type="presParOf" srcId="{039B58F8-BA48-43EB-9FAF-9A4FB3DEBF14}" destId="{82915D2B-449B-4479-A0BE-129F73F5CC77}" srcOrd="6" destOrd="0" presId="urn:microsoft.com/office/officeart/2005/8/layout/chevron1"/>
    <dgm:cxn modelId="{3D971A88-AD59-49BE-ABB7-0C22553DADA3}" type="presParOf" srcId="{82915D2B-449B-4479-A0BE-129F73F5CC77}" destId="{3D0A5190-3626-4C77-AFC2-EA27475333A5}" srcOrd="0" destOrd="0" presId="urn:microsoft.com/office/officeart/2005/8/layout/chevron1"/>
    <dgm:cxn modelId="{3B82EFFB-8841-49A0-85AA-E4733BD90D03}" type="presParOf" srcId="{82915D2B-449B-4479-A0BE-129F73F5CC77}" destId="{C8F6EB95-269E-4210-A7E8-A23C0C3E18E0}" srcOrd="1" destOrd="0" presId="urn:microsoft.com/office/officeart/2005/8/layout/chevron1"/>
    <dgm:cxn modelId="{AD364DAA-EBB3-4691-9360-63771B905F3F}" type="presParOf" srcId="{039B58F8-BA48-43EB-9FAF-9A4FB3DEBF14}" destId="{45B526F0-9CB2-4ECF-BA4D-FB9EBA6BE258}" srcOrd="7" destOrd="0" presId="urn:microsoft.com/office/officeart/2005/8/layout/chevron1"/>
    <dgm:cxn modelId="{A9E417A6-0ACB-4E24-8049-C499C51E46A6}" type="presParOf" srcId="{039B58F8-BA48-43EB-9FAF-9A4FB3DEBF14}" destId="{49CDCAFA-7D8E-4329-B158-F125BA47190C}" srcOrd="8" destOrd="0" presId="urn:microsoft.com/office/officeart/2005/8/layout/chevron1"/>
    <dgm:cxn modelId="{0154B6BC-3608-40AA-A9C2-6057C29CBF8E}" type="presParOf" srcId="{49CDCAFA-7D8E-4329-B158-F125BA47190C}" destId="{11DD0A6D-3DEF-469A-9745-531C86761957}" srcOrd="0" destOrd="0" presId="urn:microsoft.com/office/officeart/2005/8/layout/chevron1"/>
    <dgm:cxn modelId="{AE36096D-0DC5-4E51-B79F-BD23C67D89EA}" type="presParOf" srcId="{49CDCAFA-7D8E-4329-B158-F125BA47190C}" destId="{781791C8-1A07-4945-B2E5-0130FD551DF6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0CDEF7-5309-4E76-935A-AAC935E13059}">
      <dsp:nvSpPr>
        <dsp:cNvPr id="0" name=""/>
        <dsp:cNvSpPr/>
      </dsp:nvSpPr>
      <dsp:spPr>
        <a:xfrm>
          <a:off x="25" y="7694"/>
          <a:ext cx="2291790" cy="916716"/>
        </a:xfrm>
        <a:prstGeom prst="chevron">
          <a:avLst/>
        </a:prstGeom>
        <a:solidFill>
          <a:srgbClr val="00B0F0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b="0" kern="1200" dirty="0">
              <a:solidFill>
                <a:schemeClr val="bg1"/>
              </a:solidFill>
              <a:latin typeface="HD현대체  Medium" panose="02090600000101010101" pitchFamily="18" charset="-127"/>
              <a:ea typeface="HD현대체  Medium" panose="02090600000101010101" pitchFamily="18" charset="-127"/>
            </a:rPr>
            <a:t>수주 입력</a:t>
          </a:r>
        </a:p>
      </dsp:txBody>
      <dsp:txXfrm>
        <a:off x="458383" y="7694"/>
        <a:ext cx="1375074" cy="916716"/>
      </dsp:txXfrm>
    </dsp:sp>
    <dsp:sp modelId="{6E748F60-B44B-4ABA-9E66-6C61C5EB553D}">
      <dsp:nvSpPr>
        <dsp:cNvPr id="0" name=""/>
        <dsp:cNvSpPr/>
      </dsp:nvSpPr>
      <dsp:spPr>
        <a:xfrm>
          <a:off x="25" y="1038999"/>
          <a:ext cx="1833432" cy="88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57150" lvl="1" indent="-57150" algn="l" defTabSz="4889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100" kern="1200" dirty="0">
              <a:latin typeface="HD현대체  Light" panose="02090600000101010101" pitchFamily="18" charset="-127"/>
              <a:ea typeface="HD현대체  Light" panose="02090600000101010101" pitchFamily="18" charset="-127"/>
            </a:rPr>
            <a:t>월말 수주 쏠림 </a:t>
          </a:r>
          <a:r>
            <a:rPr lang="en-US" altLang="ko-KR" sz="1100" kern="1200" dirty="0">
              <a:latin typeface="HD현대체  Light" panose="02090600000101010101" pitchFamily="18" charset="-127"/>
              <a:ea typeface="HD현대체  Light" panose="02090600000101010101" pitchFamily="18" charset="-127"/>
            </a:rPr>
            <a:t>(</a:t>
          </a:r>
          <a:r>
            <a:rPr lang="ko-KR" altLang="en-US" sz="1100" kern="1200" dirty="0">
              <a:latin typeface="HD현대체  Light" panose="02090600000101010101" pitchFamily="18" charset="-127"/>
              <a:ea typeface="HD현대체  Light" panose="02090600000101010101" pitchFamily="18" charset="-127"/>
            </a:rPr>
            <a:t>해외영업</a:t>
          </a:r>
          <a:r>
            <a:rPr lang="en-US" altLang="ko-KR" sz="1100" kern="1200" dirty="0">
              <a:latin typeface="HD현대체  Light" panose="02090600000101010101" pitchFamily="18" charset="-127"/>
              <a:ea typeface="HD현대체  Light" panose="02090600000101010101" pitchFamily="18" charset="-127"/>
            </a:rPr>
            <a:t>)</a:t>
          </a:r>
          <a:endParaRPr lang="ko-KR" altLang="en-US" sz="1100" kern="1200" dirty="0">
            <a:latin typeface="HD현대체  Light" panose="02090600000101010101" pitchFamily="18" charset="-127"/>
            <a:ea typeface="HD현대체  Light" panose="02090600000101010101" pitchFamily="18" charset="-127"/>
          </a:endParaRPr>
        </a:p>
        <a:p>
          <a:pPr marL="57150" lvl="1" indent="-57150" algn="l" defTabSz="4889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100" kern="1200" dirty="0">
              <a:latin typeface="HD현대체  Light" panose="02090600000101010101" pitchFamily="18" charset="-127"/>
              <a:ea typeface="HD현대체  Light" panose="02090600000101010101" pitchFamily="18" charset="-127"/>
            </a:rPr>
            <a:t>대부분 차월에 선적 요구됨</a:t>
          </a:r>
        </a:p>
      </dsp:txBody>
      <dsp:txXfrm>
        <a:off x="25" y="1038999"/>
        <a:ext cx="1833432" cy="882000"/>
      </dsp:txXfrm>
    </dsp:sp>
    <dsp:sp modelId="{AA90B50F-C1CF-4C3A-8108-F3693CB8CDDA}">
      <dsp:nvSpPr>
        <dsp:cNvPr id="0" name=""/>
        <dsp:cNvSpPr/>
      </dsp:nvSpPr>
      <dsp:spPr>
        <a:xfrm>
          <a:off x="2075816" y="7694"/>
          <a:ext cx="2291790" cy="916716"/>
        </a:xfrm>
        <a:prstGeom prst="chevron">
          <a:avLst/>
        </a:prstGeom>
        <a:solidFill>
          <a:srgbClr val="00B0F0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b="0" kern="1200" dirty="0" err="1">
              <a:solidFill>
                <a:schemeClr val="bg1"/>
              </a:solidFill>
              <a:latin typeface="HD현대체  Medium" panose="02090600000101010101" pitchFamily="18" charset="-127"/>
              <a:ea typeface="HD현대체  Medium" panose="02090600000101010101" pitchFamily="18" charset="-127"/>
            </a:rPr>
            <a:t>가선적</a:t>
          </a:r>
          <a:r>
            <a:rPr lang="ko-KR" altLang="en-US" sz="1400" b="0" kern="1200" dirty="0">
              <a:solidFill>
                <a:schemeClr val="bg1"/>
              </a:solidFill>
              <a:latin typeface="HD현대체  Medium" panose="02090600000101010101" pitchFamily="18" charset="-127"/>
              <a:ea typeface="HD현대체  Medium" panose="02090600000101010101" pitchFamily="18" charset="-127"/>
            </a:rPr>
            <a:t> 서류</a:t>
          </a:r>
          <a:r>
            <a:rPr lang="en-US" altLang="ko-KR" sz="1400" b="0" kern="1200" baseline="30000" dirty="0">
              <a:solidFill>
                <a:schemeClr val="bg1"/>
              </a:solidFill>
              <a:latin typeface="HD현대체  Medium" panose="02090600000101010101" pitchFamily="18" charset="-127"/>
              <a:ea typeface="HD현대체  Medium" panose="02090600000101010101" pitchFamily="18" charset="-127"/>
            </a:rPr>
            <a:t>1)</a:t>
          </a:r>
          <a:r>
            <a:rPr lang="ko-KR" altLang="en-US" sz="1400" b="0" kern="1200" dirty="0">
              <a:solidFill>
                <a:schemeClr val="bg1"/>
              </a:solidFill>
              <a:latin typeface="HD현대체  Medium" panose="02090600000101010101" pitchFamily="18" charset="-127"/>
              <a:ea typeface="HD현대체  Medium" panose="02090600000101010101" pitchFamily="18" charset="-127"/>
            </a:rPr>
            <a:t> 작성</a:t>
          </a:r>
        </a:p>
      </dsp:txBody>
      <dsp:txXfrm>
        <a:off x="2534174" y="7694"/>
        <a:ext cx="1375074" cy="916716"/>
      </dsp:txXfrm>
    </dsp:sp>
    <dsp:sp modelId="{094619FF-9B1D-474E-8D55-1798FDCF55AE}">
      <dsp:nvSpPr>
        <dsp:cNvPr id="0" name=""/>
        <dsp:cNvSpPr/>
      </dsp:nvSpPr>
      <dsp:spPr>
        <a:xfrm>
          <a:off x="2075816" y="1038999"/>
          <a:ext cx="1833432" cy="88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57150" lvl="1" indent="-57150" algn="l" defTabSz="4889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100" kern="1200" dirty="0">
              <a:latin typeface="HD현대체  Light" panose="02090600000101010101" pitchFamily="18" charset="-127"/>
              <a:ea typeface="HD현대체  Light" panose="02090600000101010101" pitchFamily="18" charset="-127"/>
            </a:rPr>
            <a:t>선박 先부킹</a:t>
          </a:r>
        </a:p>
        <a:p>
          <a:pPr marL="57150" lvl="1" indent="-57150" algn="l" defTabSz="4889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100" kern="1200" dirty="0">
              <a:latin typeface="HD현대체  Light" panose="02090600000101010101" pitchFamily="18" charset="-127"/>
              <a:ea typeface="HD현대체  Light" panose="02090600000101010101" pitchFamily="18" charset="-127"/>
            </a:rPr>
            <a:t>컨테이너 종류 및 수량 예상</a:t>
          </a:r>
        </a:p>
      </dsp:txBody>
      <dsp:txXfrm>
        <a:off x="2075816" y="1038999"/>
        <a:ext cx="1833432" cy="882000"/>
      </dsp:txXfrm>
    </dsp:sp>
    <dsp:sp modelId="{4FCECC32-9E7C-48EE-80FC-CA055D495787}">
      <dsp:nvSpPr>
        <dsp:cNvPr id="0" name=""/>
        <dsp:cNvSpPr/>
      </dsp:nvSpPr>
      <dsp:spPr>
        <a:xfrm>
          <a:off x="4151607" y="7694"/>
          <a:ext cx="2291790" cy="916716"/>
        </a:xfrm>
        <a:prstGeom prst="chevron">
          <a:avLst/>
        </a:prstGeom>
        <a:solidFill>
          <a:srgbClr val="00B0F0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b="0" kern="1200" dirty="0">
              <a:solidFill>
                <a:schemeClr val="bg1"/>
              </a:solidFill>
              <a:latin typeface="HD현대체  Medium" panose="02090600000101010101" pitchFamily="18" charset="-127"/>
              <a:ea typeface="HD현대체  Medium" panose="02090600000101010101" pitchFamily="18" charset="-127"/>
            </a:rPr>
            <a:t>생산 및 포장</a:t>
          </a:r>
        </a:p>
      </dsp:txBody>
      <dsp:txXfrm>
        <a:off x="4609965" y="7694"/>
        <a:ext cx="1375074" cy="916716"/>
      </dsp:txXfrm>
    </dsp:sp>
    <dsp:sp modelId="{9A042AC7-30B5-43C1-83FD-94588002D0E6}">
      <dsp:nvSpPr>
        <dsp:cNvPr id="0" name=""/>
        <dsp:cNvSpPr/>
      </dsp:nvSpPr>
      <dsp:spPr>
        <a:xfrm>
          <a:off x="4151607" y="1038999"/>
          <a:ext cx="1833432" cy="88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57150" lvl="1" indent="-57150" algn="l" defTabSz="4889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100" kern="1200" dirty="0">
              <a:latin typeface="HD현대체  Light" panose="02090600000101010101" pitchFamily="18" charset="-127"/>
              <a:ea typeface="HD현대체  Light" panose="02090600000101010101" pitchFamily="18" charset="-127"/>
            </a:rPr>
            <a:t>선박 스케줄에 따른 생산 및 포장</a:t>
          </a:r>
        </a:p>
      </dsp:txBody>
      <dsp:txXfrm>
        <a:off x="4151607" y="1038999"/>
        <a:ext cx="1833432" cy="882000"/>
      </dsp:txXfrm>
    </dsp:sp>
    <dsp:sp modelId="{3D0A5190-3626-4C77-AFC2-EA27475333A5}">
      <dsp:nvSpPr>
        <dsp:cNvPr id="0" name=""/>
        <dsp:cNvSpPr/>
      </dsp:nvSpPr>
      <dsp:spPr>
        <a:xfrm>
          <a:off x="6227398" y="7694"/>
          <a:ext cx="2291790" cy="916716"/>
        </a:xfrm>
        <a:prstGeom prst="chevron">
          <a:avLst/>
        </a:prstGeom>
        <a:solidFill>
          <a:srgbClr val="00B0F0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b="0" kern="1200" dirty="0">
              <a:solidFill>
                <a:schemeClr val="bg1"/>
              </a:solidFill>
              <a:latin typeface="HD현대체  Medium" panose="02090600000101010101" pitchFamily="18" charset="-127"/>
              <a:ea typeface="HD현대체  Medium" panose="02090600000101010101" pitchFamily="18" charset="-127"/>
            </a:rPr>
            <a:t>선적서류 작성</a:t>
          </a:r>
        </a:p>
      </dsp:txBody>
      <dsp:txXfrm>
        <a:off x="6685756" y="7694"/>
        <a:ext cx="1375074" cy="916716"/>
      </dsp:txXfrm>
    </dsp:sp>
    <dsp:sp modelId="{C8F6EB95-269E-4210-A7E8-A23C0C3E18E0}">
      <dsp:nvSpPr>
        <dsp:cNvPr id="0" name=""/>
        <dsp:cNvSpPr/>
      </dsp:nvSpPr>
      <dsp:spPr>
        <a:xfrm>
          <a:off x="6227398" y="1038999"/>
          <a:ext cx="1833432" cy="88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57150" lvl="1" indent="-57150" algn="l" defTabSz="4889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100" kern="1200" dirty="0">
              <a:latin typeface="HD현대체  Light" panose="02090600000101010101" pitchFamily="18" charset="-127"/>
              <a:ea typeface="HD현대체  Light" panose="02090600000101010101" pitchFamily="18" charset="-127"/>
            </a:rPr>
            <a:t>포장정보를 바탕으로 선적서류 작성</a:t>
          </a:r>
        </a:p>
      </dsp:txBody>
      <dsp:txXfrm>
        <a:off x="6227398" y="1038999"/>
        <a:ext cx="1833432" cy="882000"/>
      </dsp:txXfrm>
    </dsp:sp>
    <dsp:sp modelId="{11DD0A6D-3DEF-469A-9745-531C86761957}">
      <dsp:nvSpPr>
        <dsp:cNvPr id="0" name=""/>
        <dsp:cNvSpPr/>
      </dsp:nvSpPr>
      <dsp:spPr>
        <a:xfrm>
          <a:off x="8303189" y="7694"/>
          <a:ext cx="2291790" cy="916716"/>
        </a:xfrm>
        <a:prstGeom prst="chevron">
          <a:avLst/>
        </a:prstGeom>
        <a:solidFill>
          <a:srgbClr val="00B0F0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b="0" kern="1200" dirty="0">
              <a:solidFill>
                <a:schemeClr val="bg1"/>
              </a:solidFill>
              <a:latin typeface="HD현대체  Medium" panose="02090600000101010101" pitchFamily="18" charset="-127"/>
              <a:ea typeface="HD현대체  Medium" panose="02090600000101010101" pitchFamily="18" charset="-127"/>
            </a:rPr>
            <a:t>선적 </a:t>
          </a:r>
          <a:r>
            <a:rPr lang="en-US" altLang="ko-KR" sz="1400" b="0" kern="1200" dirty="0">
              <a:solidFill>
                <a:schemeClr val="bg1"/>
              </a:solidFill>
              <a:latin typeface="HD현대체  Medium" panose="02090600000101010101" pitchFamily="18" charset="-127"/>
              <a:ea typeface="HD현대체  Medium" panose="02090600000101010101" pitchFamily="18" charset="-127"/>
            </a:rPr>
            <a:t>or</a:t>
          </a:r>
        </a:p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b="0" kern="1200" dirty="0">
              <a:solidFill>
                <a:schemeClr val="bg1"/>
              </a:solidFill>
              <a:latin typeface="HD현대체  Medium" panose="02090600000101010101" pitchFamily="18" charset="-127"/>
              <a:ea typeface="HD현대체  Medium" panose="02090600000101010101" pitchFamily="18" charset="-127"/>
            </a:rPr>
            <a:t>분할선적</a:t>
          </a:r>
          <a:r>
            <a:rPr lang="en-US" altLang="ko-KR" sz="1400" b="0" kern="1200" baseline="30000" dirty="0">
              <a:solidFill>
                <a:schemeClr val="bg1"/>
              </a:solidFill>
              <a:latin typeface="HD현대체  Medium" panose="02090600000101010101" pitchFamily="18" charset="-127"/>
              <a:ea typeface="HD현대체  Medium" panose="02090600000101010101" pitchFamily="18" charset="-127"/>
            </a:rPr>
            <a:t>2)</a:t>
          </a:r>
        </a:p>
      </dsp:txBody>
      <dsp:txXfrm>
        <a:off x="8761547" y="7694"/>
        <a:ext cx="1375074" cy="916716"/>
      </dsp:txXfrm>
    </dsp:sp>
    <dsp:sp modelId="{781791C8-1A07-4945-B2E5-0130FD551DF6}">
      <dsp:nvSpPr>
        <dsp:cNvPr id="0" name=""/>
        <dsp:cNvSpPr/>
      </dsp:nvSpPr>
      <dsp:spPr>
        <a:xfrm>
          <a:off x="8303189" y="1038999"/>
          <a:ext cx="1833432" cy="88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57150" lvl="1" indent="-57150" algn="l" defTabSz="4889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100" kern="1200" dirty="0">
              <a:latin typeface="HD현대체  Light" panose="02090600000101010101" pitchFamily="18" charset="-127"/>
              <a:ea typeface="HD현대체  Light" panose="02090600000101010101" pitchFamily="18" charset="-127"/>
            </a:rPr>
            <a:t>고객 확인 후 선적</a:t>
          </a:r>
        </a:p>
      </dsp:txBody>
      <dsp:txXfrm>
        <a:off x="8303189" y="1038999"/>
        <a:ext cx="1833432" cy="882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Noto Sans" panose="020B050204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Noto Sans" panose="020B0502040504020204" pitchFamily="34" charset="0"/>
              </a:defRPr>
            </a:lvl1pPr>
          </a:lstStyle>
          <a:p>
            <a:fld id="{62FF24ED-D4A4-B24F-A6FF-7507747C9750}" type="datetimeFigureOut">
              <a:rPr lang="en-US" smtClean="0"/>
              <a:pPr/>
              <a:t>3/9/2026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Noto Sans" panose="020B050204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Noto Sans" panose="020B0502040504020204" pitchFamily="34" charset="0"/>
              </a:defRPr>
            </a:lvl1pPr>
          </a:lstStyle>
          <a:p>
            <a:fld id="{FA52AB45-9A60-CC45-B78B-49B0E8E9CDC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032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Noto Sans" panose="020B0502040504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Noto Sans" panose="020B0502040504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Noto Sans" panose="020B0502040504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Noto Sans" panose="020B0502040504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Noto Sans" panose="020B05020405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D PPT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30CA2-2D5A-4037-866E-4E68604FE8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2893" y="365126"/>
            <a:ext cx="10777920" cy="315911"/>
          </a:xfrm>
        </p:spPr>
        <p:txBody>
          <a:bodyPr/>
          <a:lstStyle>
            <a:lvl1pPr>
              <a:defRPr b="1" i="0">
                <a:latin typeface="HDHyundaiGothicEN  Regular" panose="020B0000000101010101" pitchFamily="34" charset="0"/>
              </a:defRPr>
            </a:lvl1pPr>
          </a:lstStyle>
          <a:p>
            <a:r>
              <a:rPr lang="en-US" dirty="0"/>
              <a:t>Section title goes here</a:t>
            </a:r>
            <a:endParaRPr lang="en-GB" dirty="0"/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0B71B2FE-9D4B-1035-88A2-1E9D2DBA5A7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2893" y="695326"/>
            <a:ext cx="10777920" cy="797166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SLIDE HEADLINE GOES HERE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1A10170-0CF4-C6AB-C38A-AA97B86E0F0C}"/>
              </a:ext>
            </a:extLst>
          </p:cNvPr>
          <p:cNvSpPr txBox="1"/>
          <p:nvPr userDrawn="1"/>
        </p:nvSpPr>
        <p:spPr>
          <a:xfrm>
            <a:off x="11330813" y="6502400"/>
            <a:ext cx="381000" cy="174049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>
              <a:defRPr>
                <a:solidFill>
                  <a:srgbClr val="000000"/>
                </a:solidFill>
                <a:latin typeface="+mn-lt" charset="0"/>
                <a:ea typeface="Slate Pro Light" charset="0"/>
                <a:cs typeface="Slate Pro Light" charset="0"/>
              </a:defRPr>
            </a:lvl1pPr>
          </a:lstStyle>
          <a:p>
            <a:pPr lvl="0" algn="r">
              <a:lnSpc>
                <a:spcPts val="1000"/>
              </a:lnSpc>
            </a:pPr>
            <a:fld id="{DA68CEF4-E06B-2F45-9C1B-34EEEC442DB9}" type="slidenum">
              <a:rPr lang="en-US" sz="800" b="0" i="0" smtClean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 lvl="0" algn="r">
                <a:lnSpc>
                  <a:spcPts val="1000"/>
                </a:lnSpc>
              </a:pPr>
              <a:t>‹#›</a:t>
            </a:fld>
            <a:endParaRPr lang="en-US" sz="800" b="0" i="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757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799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D PPT template_Cov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A8B3727-7F58-8EF4-C800-290E4872E2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0215293" cy="6858000"/>
          </a:xfrm>
          <a:custGeom>
            <a:avLst/>
            <a:gdLst>
              <a:gd name="connsiteX0" fmla="*/ 0 w 10215293"/>
              <a:gd name="connsiteY0" fmla="*/ 0 h 6858000"/>
              <a:gd name="connsiteX1" fmla="*/ 8234707 w 10215293"/>
              <a:gd name="connsiteY1" fmla="*/ 0 h 6858000"/>
              <a:gd name="connsiteX2" fmla="*/ 10215293 w 10215293"/>
              <a:gd name="connsiteY2" fmla="*/ 3443815 h 6858000"/>
              <a:gd name="connsiteX3" fmla="*/ 8248408 w 10215293"/>
              <a:gd name="connsiteY3" fmla="*/ 6858000 h 6858000"/>
              <a:gd name="connsiteX4" fmla="*/ 0 w 10215293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5293" h="6858000">
                <a:moveTo>
                  <a:pt x="0" y="0"/>
                </a:moveTo>
                <a:lnTo>
                  <a:pt x="8234707" y="0"/>
                </a:lnTo>
                <a:lnTo>
                  <a:pt x="10215293" y="3443815"/>
                </a:lnTo>
                <a:lnTo>
                  <a:pt x="82484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solidFill>
                  <a:srgbClr val="FF0000"/>
                </a:solidFill>
              </a:defRPr>
            </a:lvl1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43" y="448460"/>
            <a:ext cx="1963575" cy="460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018A07-015A-02DE-8F67-259C9064CE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8350" y="-1"/>
            <a:ext cx="4865225" cy="6877543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584F01A4-0A03-98C4-09EE-73F22882B91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914401" y="571441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HDHyundaiGothicEN  Light" panose="020B0000000101010101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811D717D-1FE9-00C5-0C01-14521F732A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1" y="4802400"/>
            <a:ext cx="5960400" cy="892477"/>
          </a:xfrm>
        </p:spPr>
        <p:txBody>
          <a:bodyPr>
            <a:noAutofit/>
          </a:bodyPr>
          <a:lstStyle>
            <a:lvl1pPr marL="0" indent="0">
              <a:lnSpc>
                <a:spcPts val="2800"/>
              </a:lnSpc>
              <a:buFontTx/>
              <a:buNone/>
              <a:defRPr sz="2800" b="1" i="0">
                <a:solidFill>
                  <a:schemeClr val="bg1"/>
                </a:solidFill>
                <a:latin typeface="HDHyundaiGothicEN Bold" panose="020B0000000101010101" pitchFamily="34" charset="0"/>
              </a:defRPr>
            </a:lvl1pPr>
          </a:lstStyle>
          <a:p>
            <a:pPr lvl="0"/>
            <a:r>
              <a:rPr lang="en-GB" dirty="0"/>
              <a:t>PRESENTATION HEADLINE</a:t>
            </a:r>
          </a:p>
          <a:p>
            <a:pPr lvl="0"/>
            <a:r>
              <a:rPr lang="en-GB" dirty="0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2323115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D PPT template_Cov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00" y="450000"/>
            <a:ext cx="3026510" cy="46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8B35E44-33E5-2DC1-2921-7F43CFD8B7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8350" y="-1"/>
            <a:ext cx="4865225" cy="6877543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472BF35-5190-AE3B-74DD-EF2DDEFA720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914401" y="3621713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accent5"/>
                </a:solidFill>
                <a:latin typeface="HDHyundaiGothicEN  Light" panose="020B0000000101010101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F8693F23-110C-F6ED-610E-84E5224977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1" y="2697234"/>
            <a:ext cx="5960400" cy="797166"/>
          </a:xfrm>
        </p:spPr>
        <p:txBody>
          <a:bodyPr>
            <a:noAutofit/>
          </a:bodyPr>
          <a:lstStyle>
            <a:lvl1pPr marL="0" indent="0">
              <a:lnSpc>
                <a:spcPts val="2800"/>
              </a:lnSpc>
              <a:buFontTx/>
              <a:buNone/>
              <a:defRPr sz="2800" b="1" i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PRESENTATION HEADLINE</a:t>
            </a:r>
          </a:p>
          <a:p>
            <a:pPr lvl="0"/>
            <a:r>
              <a:rPr lang="en-GB" dirty="0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2644803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D PPT template_Cover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0DADD7-6F2E-FE93-3486-68F48C52B21D}"/>
              </a:ext>
            </a:extLst>
          </p:cNvPr>
          <p:cNvSpPr/>
          <p:nvPr userDrawn="1"/>
        </p:nvSpPr>
        <p:spPr>
          <a:xfrm>
            <a:off x="-106017" y="-19543"/>
            <a:ext cx="12309591" cy="689708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Noto Sans" panose="020B0502040504020204" pitchFamily="34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42" y="444115"/>
            <a:ext cx="2979949" cy="460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8B35E44-33E5-2DC1-2921-7F43CFD8B7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8350" y="-1"/>
            <a:ext cx="4865225" cy="6877543"/>
          </a:xfrm>
          <a:prstGeom prst="rect">
            <a:avLst/>
          </a:prstGeom>
        </p:spPr>
      </p:pic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20721728-6A33-82A7-C50F-339BB4B8843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914401" y="3621713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HDHyundaiGothicEN  Light" panose="020B0000000101010101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05F7EA37-FFBD-3E4B-2D94-FFBFB91BB8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1" y="2697234"/>
            <a:ext cx="5960400" cy="797166"/>
          </a:xfrm>
        </p:spPr>
        <p:txBody>
          <a:bodyPr>
            <a:noAutofit/>
          </a:bodyPr>
          <a:lstStyle>
            <a:lvl1pPr marL="0" indent="0">
              <a:lnSpc>
                <a:spcPts val="2800"/>
              </a:lnSpc>
              <a:buFontTx/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PRESENTATION HEADLINE</a:t>
            </a:r>
          </a:p>
          <a:p>
            <a:pPr lvl="0"/>
            <a:r>
              <a:rPr lang="en-GB" dirty="0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2472864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D PPT template_Section divid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E0E665B-B5AB-B625-FE74-92EBE0749C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0600" y="0"/>
            <a:ext cx="4864133" cy="6876000"/>
          </a:xfrm>
          <a:prstGeom prst="rect">
            <a:avLst/>
          </a:prstGeom>
        </p:spPr>
      </p:pic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A56283C-854F-FA4E-1D91-8AFD544983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1" y="3076485"/>
            <a:ext cx="5960400" cy="797166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800" b="1" i="0">
                <a:solidFill>
                  <a:schemeClr val="accent4"/>
                </a:solidFill>
                <a:latin typeface="HDHyundaiGothicEN  Regular" panose="020B0000000101010101" pitchFamily="34" charset="0"/>
              </a:defRPr>
            </a:lvl1pPr>
          </a:lstStyle>
          <a:p>
            <a:pPr lvl="0"/>
            <a:r>
              <a:rPr lang="en-GB" dirty="0"/>
              <a:t>DIVIDER HEADLINE</a:t>
            </a:r>
          </a:p>
        </p:txBody>
      </p:sp>
    </p:spTree>
    <p:extLst>
      <p:ext uri="{BB962C8B-B14F-4D97-AF65-F5344CB8AC3E}">
        <p14:creationId xmlns:p14="http://schemas.microsoft.com/office/powerpoint/2010/main" val="1118234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D PPT template_Section divi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60C862-FDF6-0D9E-D1BE-B3973061C7FF}"/>
              </a:ext>
            </a:extLst>
          </p:cNvPr>
          <p:cNvSpPr/>
          <p:nvPr userDrawn="1"/>
        </p:nvSpPr>
        <p:spPr>
          <a:xfrm>
            <a:off x="-106017" y="-19543"/>
            <a:ext cx="12309591" cy="689708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Noto Sans" panose="020B050204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3FC4E1-D58E-A0EA-88CC-025CC3DA4E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8307" y="0"/>
            <a:ext cx="3425267" cy="6876000"/>
          </a:xfrm>
          <a:prstGeom prst="rect">
            <a:avLst/>
          </a:prstGeom>
        </p:spPr>
      </p:pic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19E42D48-F683-C606-057C-8F1D61184B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1" y="3076485"/>
            <a:ext cx="5960400" cy="797166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8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DIVIDER HEADLINE</a:t>
            </a:r>
          </a:p>
        </p:txBody>
      </p:sp>
    </p:spTree>
    <p:extLst>
      <p:ext uri="{BB962C8B-B14F-4D97-AF65-F5344CB8AC3E}">
        <p14:creationId xmlns:p14="http://schemas.microsoft.com/office/powerpoint/2010/main" val="1666677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D PPT template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2958A-16D2-27F4-0CF3-6B6E25D768B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482056" y="1250748"/>
            <a:ext cx="7227888" cy="4443882"/>
          </a:xfrm>
        </p:spPr>
        <p:txBody>
          <a:bodyPr>
            <a:normAutofit/>
          </a:bodyPr>
          <a:lstStyle>
            <a:lvl1pPr marL="228600" indent="-228600">
              <a:lnSpc>
                <a:spcPts val="4000"/>
              </a:lnSpc>
              <a:buFont typeface="+mj-lt"/>
              <a:buAutoNum type="arabicPeriod"/>
              <a:defRPr sz="1600" b="0" i="0">
                <a:latin typeface="HDHyundaiGothicEN  Regular" panose="020B0000000101010101" pitchFamily="34" charset="0"/>
              </a:defRPr>
            </a:lvl1pPr>
            <a:lvl2pPr marL="685800" indent="-228600">
              <a:lnSpc>
                <a:spcPts val="4000"/>
              </a:lnSpc>
              <a:buFont typeface="+mj-lt"/>
              <a:buAutoNum type="arabicPeriod"/>
              <a:defRPr sz="1600" b="0" i="0">
                <a:latin typeface="HDHyundaiGothicEN  Regular" panose="020B0000000101010101" pitchFamily="34" charset="0"/>
              </a:defRPr>
            </a:lvl2pPr>
            <a:lvl3pPr marL="1143000" indent="-228600">
              <a:lnSpc>
                <a:spcPts val="4000"/>
              </a:lnSpc>
              <a:buFont typeface="+mj-lt"/>
              <a:buAutoNum type="arabicPeriod"/>
              <a:defRPr sz="1600" b="0" i="0">
                <a:latin typeface="HDHyundaiGothicEN  Regular" panose="020B0000000101010101" pitchFamily="34" charset="0"/>
              </a:defRPr>
            </a:lvl3pPr>
            <a:lvl4pPr marL="1600200" indent="-228600">
              <a:lnSpc>
                <a:spcPts val="4000"/>
              </a:lnSpc>
              <a:buFont typeface="+mj-lt"/>
              <a:buAutoNum type="arabicPeriod"/>
              <a:defRPr sz="1600" b="0" i="0">
                <a:latin typeface="HDHyundaiGothicEN  Regular" panose="020B0000000101010101" pitchFamily="34" charset="0"/>
              </a:defRPr>
            </a:lvl4pPr>
            <a:lvl5pPr marL="2057400" indent="-228600">
              <a:lnSpc>
                <a:spcPts val="4000"/>
              </a:lnSpc>
              <a:buFont typeface="+mj-lt"/>
              <a:buAutoNum type="arabicPeriod"/>
              <a:defRPr sz="1600" b="0" i="0">
                <a:latin typeface="HDHyundaiGothicEN  Regular" panose="020B0000000101010101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775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D PPT template_Image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30CA2-2D5A-4037-866E-4E68604FE8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2893" y="365126"/>
            <a:ext cx="5009707" cy="315911"/>
          </a:xfrm>
        </p:spPr>
        <p:txBody>
          <a:bodyPr/>
          <a:lstStyle>
            <a:lvl1pPr>
              <a:defRPr b="1" i="0">
                <a:latin typeface="HDHyundaiGothicEN  Regular" panose="020B0000000101010101" pitchFamily="34" charset="0"/>
              </a:defRPr>
            </a:lvl1pPr>
          </a:lstStyle>
          <a:p>
            <a:r>
              <a:rPr lang="en-US" dirty="0"/>
              <a:t>Section title goes here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EB652-8B5F-4588-848F-AC65FA33A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893" y="1541721"/>
            <a:ext cx="5009707" cy="4635242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>
                <a:solidFill>
                  <a:schemeClr val="accent6"/>
                </a:solidFill>
                <a:latin typeface="HDHyundaiGothicEN  Light" panose="020B0000000101010101" pitchFamily="34" charset="0"/>
              </a:defRPr>
            </a:lvl1pPr>
            <a:lvl2pPr marL="457200" indent="0">
              <a:lnSpc>
                <a:spcPts val="1000"/>
              </a:lnSpc>
              <a:buFontTx/>
              <a:buNone/>
              <a:defRPr>
                <a:solidFill>
                  <a:schemeClr val="accent6"/>
                </a:solidFill>
              </a:defRPr>
            </a:lvl2pPr>
            <a:lvl3pPr marL="914400" indent="0">
              <a:lnSpc>
                <a:spcPts val="1000"/>
              </a:lnSpc>
              <a:buFontTx/>
              <a:buNone/>
              <a:defRPr>
                <a:solidFill>
                  <a:schemeClr val="accent6"/>
                </a:solidFill>
              </a:defRPr>
            </a:lvl3pPr>
            <a:lvl4pPr marL="1371600" indent="0">
              <a:lnSpc>
                <a:spcPts val="1000"/>
              </a:lnSpc>
              <a:buFontTx/>
              <a:buNone/>
              <a:defRPr>
                <a:solidFill>
                  <a:schemeClr val="accent6"/>
                </a:solidFill>
              </a:defRPr>
            </a:lvl4pPr>
            <a:lvl5pPr marL="1828800" indent="0">
              <a:lnSpc>
                <a:spcPts val="1000"/>
              </a:lnSpc>
              <a:buFontTx/>
              <a:buNone/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13664AAB-6FD0-52A4-4411-2F9FE10A43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77516" y="990402"/>
            <a:ext cx="4242297" cy="4874526"/>
          </a:xfrm>
          <a:custGeom>
            <a:avLst/>
            <a:gdLst>
              <a:gd name="connsiteX0" fmla="*/ 1341788 w 4242297"/>
              <a:gd name="connsiteY0" fmla="*/ 2577668 h 4874526"/>
              <a:gd name="connsiteX1" fmla="*/ 2670983 w 4242297"/>
              <a:gd name="connsiteY1" fmla="*/ 4872776 h 4874526"/>
              <a:gd name="connsiteX2" fmla="*/ 19670 w 4242297"/>
              <a:gd name="connsiteY2" fmla="*/ 4869108 h 4874526"/>
              <a:gd name="connsiteX3" fmla="*/ 145351 w 4242297"/>
              <a:gd name="connsiteY3" fmla="*/ 238079 h 4874526"/>
              <a:gd name="connsiteX4" fmla="*/ 4165313 w 4242297"/>
              <a:gd name="connsiteY4" fmla="*/ 2561729 h 4874526"/>
              <a:gd name="connsiteX5" fmla="*/ 2824786 w 4242297"/>
              <a:gd name="connsiteY5" fmla="*/ 4874526 h 4874526"/>
              <a:gd name="connsiteX6" fmla="*/ 2824130 w 4242297"/>
              <a:gd name="connsiteY6" fmla="*/ 0 h 4874526"/>
              <a:gd name="connsiteX7" fmla="*/ 4242297 w 4242297"/>
              <a:gd name="connsiteY7" fmla="*/ 2451100 h 4874526"/>
              <a:gd name="connsiteX8" fmla="*/ 0 w 4242297"/>
              <a:gd name="connsiteY8" fmla="*/ 9213 h 4874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42297" h="4874526">
                <a:moveTo>
                  <a:pt x="1341788" y="2577668"/>
                </a:moveTo>
                <a:lnTo>
                  <a:pt x="2670983" y="4872776"/>
                </a:lnTo>
                <a:lnTo>
                  <a:pt x="19670" y="4869108"/>
                </a:lnTo>
                <a:close/>
                <a:moveTo>
                  <a:pt x="145351" y="238079"/>
                </a:moveTo>
                <a:lnTo>
                  <a:pt x="4165313" y="2561729"/>
                </a:lnTo>
                <a:lnTo>
                  <a:pt x="2824786" y="4874526"/>
                </a:lnTo>
                <a:close/>
                <a:moveTo>
                  <a:pt x="2824130" y="0"/>
                </a:moveTo>
                <a:lnTo>
                  <a:pt x="4242297" y="2451100"/>
                </a:lnTo>
                <a:lnTo>
                  <a:pt x="0" y="921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solidFill>
                  <a:srgbClr val="FF0000"/>
                </a:solidFill>
                <a:latin typeface="HDHyundaiGothicEN  Light" panose="020B0000000101010101" pitchFamily="34" charset="0"/>
              </a:defRPr>
            </a:lvl1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37E8FB0F-0F11-8D1C-3B3E-4BB91C69A4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2893" y="695326"/>
            <a:ext cx="5009707" cy="797166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accent2"/>
                </a:solidFill>
                <a:latin typeface="HDHyundaiGothicEN Bold" panose="020B0000000101010101" pitchFamily="34" charset="0"/>
              </a:defRPr>
            </a:lvl1pPr>
          </a:lstStyle>
          <a:p>
            <a:pPr lvl="0"/>
            <a:r>
              <a:rPr lang="en-GB" dirty="0"/>
              <a:t>SLIDE HEADLINE GOES HERE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693011-CA46-9455-0D1F-1B5A45493142}"/>
              </a:ext>
            </a:extLst>
          </p:cNvPr>
          <p:cNvSpPr txBox="1"/>
          <p:nvPr userDrawn="1"/>
        </p:nvSpPr>
        <p:spPr>
          <a:xfrm>
            <a:off x="11330813" y="6502400"/>
            <a:ext cx="381000" cy="174049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>
              <a:defRPr>
                <a:solidFill>
                  <a:srgbClr val="000000"/>
                </a:solidFill>
                <a:latin typeface="+mn-lt" charset="0"/>
                <a:ea typeface="Slate Pro Light" charset="0"/>
                <a:cs typeface="Slate Pro Light" charset="0"/>
              </a:defRPr>
            </a:lvl1pPr>
          </a:lstStyle>
          <a:p>
            <a:pPr lvl="0" algn="r">
              <a:lnSpc>
                <a:spcPts val="1000"/>
              </a:lnSpc>
            </a:pPr>
            <a:fld id="{DA68CEF4-E06B-2F45-9C1B-34EEEC442DB9}" type="slidenum">
              <a:rPr lang="en-US" sz="800" b="0" i="0" smtClean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 lvl="0" algn="r">
                <a:lnSpc>
                  <a:spcPts val="1000"/>
                </a:lnSpc>
              </a:pPr>
              <a:t>‹#›</a:t>
            </a:fld>
            <a:endParaRPr lang="en-US" sz="800" b="0" i="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563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D PPT template_Image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BC8AAEDC-AA1E-8313-26D5-47612FB3B5F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200">
                <a:solidFill>
                  <a:srgbClr val="FF0000"/>
                </a:solidFill>
                <a:latin typeface="HDHyundaiGothicEN  Light" panose="020B0000000101010101" pitchFamily="34" charset="0"/>
              </a:defRPr>
            </a:lvl1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0A46A15-0F30-F97D-0382-6AC9E579C25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32170" y="4069320"/>
            <a:ext cx="547586" cy="1273457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C30CA2-2D5A-4037-866E-4E68604FE8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2893" y="365126"/>
            <a:ext cx="5009707" cy="315911"/>
          </a:xfrm>
        </p:spPr>
        <p:txBody>
          <a:bodyPr/>
          <a:lstStyle>
            <a:lvl1pPr>
              <a:defRPr b="1" i="0">
                <a:latin typeface="+mn-lt"/>
              </a:defRPr>
            </a:lvl1pPr>
          </a:lstStyle>
          <a:p>
            <a:r>
              <a:rPr lang="en-US" dirty="0"/>
              <a:t>Section title goes here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EB652-8B5F-4588-848F-AC65FA33A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893" y="1541721"/>
            <a:ext cx="5009707" cy="4635242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C57D930-6077-B6F8-9440-3558658FAB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85108" y="4542661"/>
            <a:ext cx="2914344" cy="1072883"/>
          </a:xfrm>
        </p:spPr>
        <p:txBody>
          <a:bodyPr>
            <a:normAutofit/>
          </a:bodyPr>
          <a:lstStyle>
            <a:lvl1pPr marL="0" indent="0">
              <a:lnSpc>
                <a:spcPts val="2200"/>
              </a:lnSpc>
              <a:buFontTx/>
              <a:buNone/>
              <a:defRPr sz="1600" b="1" i="0">
                <a:solidFill>
                  <a:schemeClr val="bg1"/>
                </a:solidFill>
                <a:latin typeface="HDHyundaiGothicEN  Regular" panose="020B0000000101010101" pitchFamily="34" charset="0"/>
              </a:defRPr>
            </a:lvl1pPr>
            <a:lvl2pPr marL="457200" indent="0">
              <a:buFontTx/>
              <a:buNone/>
              <a:defRPr b="1" i="0">
                <a:solidFill>
                  <a:schemeClr val="bg1"/>
                </a:solidFill>
                <a:latin typeface="PyeongChang2018 Black" panose="02000000000000000000" pitchFamily="2" charset="0"/>
              </a:defRPr>
            </a:lvl2pPr>
            <a:lvl3pPr marL="914400" indent="0">
              <a:buFontTx/>
              <a:buNone/>
              <a:defRPr b="1" i="0">
                <a:solidFill>
                  <a:schemeClr val="bg1"/>
                </a:solidFill>
                <a:latin typeface="PyeongChang2018 Black" panose="02000000000000000000" pitchFamily="2" charset="0"/>
              </a:defRPr>
            </a:lvl3pPr>
            <a:lvl4pPr marL="1371600" indent="0">
              <a:buFontTx/>
              <a:buNone/>
              <a:defRPr b="1" i="0">
                <a:solidFill>
                  <a:schemeClr val="bg1"/>
                </a:solidFill>
                <a:latin typeface="PyeongChang2018 Black" panose="02000000000000000000" pitchFamily="2" charset="0"/>
              </a:defRPr>
            </a:lvl4pPr>
            <a:lvl5pPr marL="1828800" indent="0">
              <a:buFontTx/>
              <a:buNone/>
              <a:defRPr b="1" i="0">
                <a:solidFill>
                  <a:schemeClr val="bg1"/>
                </a:solidFill>
                <a:latin typeface="PyeongChang2018 Black" panose="02000000000000000000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B649C69A-10D7-00BC-A027-E7C9B802A6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2893" y="695326"/>
            <a:ext cx="5009707" cy="797166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accent2"/>
                </a:solidFill>
                <a:latin typeface="HDHyundaiGothicEN Bold" panose="020B0000000101010101" pitchFamily="34" charset="0"/>
              </a:defRPr>
            </a:lvl1pPr>
          </a:lstStyle>
          <a:p>
            <a:pPr lvl="0"/>
            <a:r>
              <a:rPr lang="en-GB" dirty="0"/>
              <a:t>SLIDE HEADLINE GOES HERE</a:t>
            </a:r>
          </a:p>
        </p:txBody>
      </p:sp>
    </p:spTree>
    <p:extLst>
      <p:ext uri="{BB962C8B-B14F-4D97-AF65-F5344CB8AC3E}">
        <p14:creationId xmlns:p14="http://schemas.microsoft.com/office/powerpoint/2010/main" val="1733610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D PPT template_Infographics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FA0ACC54-2CCD-3739-35B3-91D85BF5CC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2893" y="365126"/>
            <a:ext cx="5009707" cy="315911"/>
          </a:xfrm>
        </p:spPr>
        <p:txBody>
          <a:bodyPr/>
          <a:lstStyle>
            <a:lvl1pPr>
              <a:defRPr b="1" i="0">
                <a:latin typeface="HDHyundaiGothicEN  Regular" panose="020B0000000101010101" pitchFamily="34" charset="0"/>
              </a:defRPr>
            </a:lvl1pPr>
          </a:lstStyle>
          <a:p>
            <a:r>
              <a:rPr lang="en-US" dirty="0"/>
              <a:t>Section title goes here</a:t>
            </a:r>
            <a:endParaRPr lang="en-GB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BAC3F70-7F10-2DF3-7073-93B9BC9B2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893" y="1541721"/>
            <a:ext cx="5009707" cy="4635242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6"/>
                </a:solidFill>
                <a:latin typeface="HDHyundaiGothicEN  Light" panose="020B0000000101010101" pitchFamily="34" charset="0"/>
              </a:defRPr>
            </a:lvl1pPr>
            <a:lvl2pPr>
              <a:lnSpc>
                <a:spcPct val="100000"/>
              </a:lnSpc>
              <a:defRPr>
                <a:solidFill>
                  <a:schemeClr val="accent6"/>
                </a:solidFill>
                <a:latin typeface="HDHyundaiGothicEN  Light" panose="020B0000000101010101" pitchFamily="34" charset="0"/>
              </a:defRPr>
            </a:lvl2pPr>
            <a:lvl3pPr>
              <a:lnSpc>
                <a:spcPct val="100000"/>
              </a:lnSpc>
              <a:defRPr>
                <a:solidFill>
                  <a:schemeClr val="accent6"/>
                </a:solidFill>
                <a:latin typeface="HDHyundaiGothicEN  Light" panose="020B0000000101010101" pitchFamily="34" charset="0"/>
              </a:defRPr>
            </a:lvl3pPr>
            <a:lvl4pPr>
              <a:lnSpc>
                <a:spcPct val="100000"/>
              </a:lnSpc>
              <a:defRPr>
                <a:solidFill>
                  <a:schemeClr val="accent6"/>
                </a:solidFill>
                <a:latin typeface="HDHyundaiGothicEN  Light" panose="020B0000000101010101" pitchFamily="34" charset="0"/>
              </a:defRPr>
            </a:lvl4pPr>
            <a:lvl5pPr>
              <a:lnSpc>
                <a:spcPct val="100000"/>
              </a:lnSpc>
              <a:defRPr>
                <a:solidFill>
                  <a:schemeClr val="accent6"/>
                </a:solidFill>
                <a:latin typeface="HDHyundaiGothicEN  Light" panose="020B0000000101010101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5DC306F8-8E65-D52D-6CB0-9DBD881F0C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2893" y="695326"/>
            <a:ext cx="5009707" cy="797166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accent2"/>
                </a:solidFill>
                <a:latin typeface="HDHyundaiGothicEN Bold" panose="020B0000000101010101" pitchFamily="34" charset="0"/>
              </a:defRPr>
            </a:lvl1pPr>
          </a:lstStyle>
          <a:p>
            <a:pPr lvl="0"/>
            <a:r>
              <a:rPr lang="en-GB" dirty="0"/>
              <a:t>SLIDE HEADLINE GOES HERE</a:t>
            </a:r>
          </a:p>
        </p:txBody>
      </p:sp>
    </p:spTree>
    <p:extLst>
      <p:ext uri="{BB962C8B-B14F-4D97-AF65-F5344CB8AC3E}">
        <p14:creationId xmlns:p14="http://schemas.microsoft.com/office/powerpoint/2010/main" val="3280740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6"/>
          <p:cNvSpPr>
            <a:spLocks noChangeArrowheads="1"/>
          </p:cNvSpPr>
          <p:nvPr userDrawn="1"/>
        </p:nvSpPr>
        <p:spPr bwMode="auto">
          <a:xfrm>
            <a:off x="10497707" y="692943"/>
            <a:ext cx="1389498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0" algn="l" defTabSz="778986" rtl="0" eaLnBrk="1" latinLnBrk="1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9494" algn="l" defTabSz="778986" rtl="0" eaLnBrk="1" latinLnBrk="1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8986" algn="l" defTabSz="778986" rtl="0" eaLnBrk="1" latinLnBrk="1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8479" algn="l" defTabSz="778986" rtl="0" eaLnBrk="1" latinLnBrk="1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7972" algn="l" defTabSz="778986" rtl="0" eaLnBrk="1" latinLnBrk="1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47464" algn="l" defTabSz="778986" rtl="0" eaLnBrk="1" latinLnBrk="1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36957" algn="l" defTabSz="778986" rtl="0" eaLnBrk="1" latinLnBrk="1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26450" algn="l" defTabSz="778986" rtl="0" eaLnBrk="1" latinLnBrk="1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15943" algn="l" defTabSz="778986" rtl="0" eaLnBrk="1" latinLnBrk="1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ko-KR" sz="1000" spc="0" dirty="0">
                <a:solidFill>
                  <a:schemeClr val="bg1">
                    <a:lumMod val="65000"/>
                  </a:schemeClr>
                </a:solidFill>
                <a:effectLst/>
                <a:latin typeface="맑은 고딕" panose="020B0503020000020004" pitchFamily="50" charset="-127"/>
                <a:ea typeface="+mn-ea"/>
              </a:rPr>
              <a:t>HD Hyundai </a:t>
            </a:r>
            <a:r>
              <a:rPr lang="en-US" altLang="ko-KR" sz="1000" spc="-10" dirty="0">
                <a:solidFill>
                  <a:schemeClr val="bg1">
                    <a:lumMod val="65000"/>
                  </a:schemeClr>
                </a:solidFill>
                <a:effectLst/>
                <a:latin typeface="맑은 고딕" panose="020B0503020000020004" pitchFamily="50" charset="-127"/>
                <a:ea typeface="+mn-ea"/>
              </a:rPr>
              <a:t>Electric</a:t>
            </a:r>
            <a:endParaRPr lang="en-US" altLang="ko-KR" sz="1000" dirty="0">
              <a:solidFill>
                <a:schemeClr val="bg1">
                  <a:lumMod val="65000"/>
                </a:schemeClr>
              </a:solidFill>
              <a:effectLst/>
              <a:latin typeface="맑은 고딕" panose="020B0503020000020004" pitchFamily="50" charset="-127"/>
              <a:ea typeface="+mn-ea"/>
            </a:endParaRPr>
          </a:p>
        </p:txBody>
      </p:sp>
      <p:cxnSp>
        <p:nvCxnSpPr>
          <p:cNvPr id="9" name="직선 연결선 8"/>
          <p:cNvCxnSpPr/>
          <p:nvPr userDrawn="1"/>
        </p:nvCxnSpPr>
        <p:spPr>
          <a:xfrm flipV="1">
            <a:off x="485775" y="878681"/>
            <a:ext cx="11287125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64964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4">
          <p15:clr>
            <a:srgbClr val="FBAE40"/>
          </p15:clr>
        </p15:guide>
        <p15:guide id="2" pos="317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54" y="6248399"/>
            <a:ext cx="1303936" cy="306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4DF8B1-D5DF-47DC-9080-04097C6B0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893" y="365126"/>
            <a:ext cx="10800907" cy="315911"/>
          </a:xfrm>
          <a:prstGeom prst="rect">
            <a:avLst/>
          </a:prstGeom>
        </p:spPr>
        <p:txBody>
          <a:bodyPr vert="horz" lIns="91440" tIns="18000" rIns="91440" bIns="18000" rtlCol="0" anchor="ctr">
            <a:norm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E6B4B-B827-45BC-891E-6F1562C08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2893" y="1541721"/>
            <a:ext cx="10800907" cy="46352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461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21" r:id="rId2"/>
    <p:sldLayoutId id="2147483697" r:id="rId3"/>
    <p:sldLayoutId id="2147483709" r:id="rId4"/>
    <p:sldLayoutId id="2147483710" r:id="rId5"/>
    <p:sldLayoutId id="2147483711" r:id="rId6"/>
    <p:sldLayoutId id="2147483712" r:id="rId7"/>
    <p:sldLayoutId id="2147483716" r:id="rId8"/>
    <p:sldLayoutId id="2147483698" r:id="rId9"/>
    <p:sldLayoutId id="2147483713" r:id="rId10"/>
    <p:sldLayoutId id="2147483717" r:id="rId11"/>
    <p:sldLayoutId id="2147483722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600" b="0" i="0" kern="1200">
          <a:solidFill>
            <a:schemeClr val="accent6"/>
          </a:solidFill>
          <a:latin typeface="HDHyundaiGothicEN  Regular" panose="020B0000000101010101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100" b="0" i="0" kern="1200">
          <a:solidFill>
            <a:schemeClr val="accent6"/>
          </a:solidFill>
          <a:latin typeface="HDHyundaiGothicEN  Light" panose="020B0000000101010101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100" b="0" i="0" kern="1200">
          <a:solidFill>
            <a:schemeClr val="accent6"/>
          </a:solidFill>
          <a:latin typeface="HDHyundaiGothicEN  Light" panose="020B0000000101010101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100" b="0" i="0" kern="1200">
          <a:solidFill>
            <a:schemeClr val="accent6"/>
          </a:solidFill>
          <a:latin typeface="HDHyundaiGothicEN  Light" panose="020B0000000101010101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100" b="0" i="0" kern="1200">
          <a:solidFill>
            <a:schemeClr val="accent6"/>
          </a:solidFill>
          <a:latin typeface="HDHyundaiGothicEN  Light" panose="020B0000000101010101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100" b="0" i="0" kern="1200">
          <a:solidFill>
            <a:schemeClr val="accent6"/>
          </a:solidFill>
          <a:latin typeface="HDHyundaiGothicEN  Light" panose="020B0000000101010101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14EB10-A0D4-8A2A-A860-343E69F27EE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980697" y="3786312"/>
            <a:ext cx="3902021" cy="365125"/>
          </a:xfrm>
        </p:spPr>
        <p:txBody>
          <a:bodyPr/>
          <a:lstStyle/>
          <a:p>
            <a:r>
              <a:rPr lang="en-GB" sz="1400">
                <a:latin typeface="HD현대체 Bold" panose="02090600000101010101" pitchFamily="18" charset="-127"/>
                <a:ea typeface="HD현대체 Bold" panose="02090600000101010101" pitchFamily="18" charset="-127"/>
              </a:rPr>
              <a:t>2025.12.12  </a:t>
            </a:r>
            <a:r>
              <a:rPr lang="ko-KR" altLang="en-US" sz="1400" dirty="0">
                <a:latin typeface="HD현대체 Bold" panose="02090600000101010101" pitchFamily="18" charset="-127"/>
                <a:ea typeface="HD현대체 Bold" panose="02090600000101010101" pitchFamily="18" charset="-127"/>
              </a:rPr>
              <a:t>배전전략영업과</a:t>
            </a:r>
            <a:endParaRPr lang="en-GB" sz="1400" dirty="0">
              <a:latin typeface="HD현대체 Bold" panose="02090600000101010101" pitchFamily="18" charset="-127"/>
              <a:ea typeface="HD현대체 Bold" panose="02090600000101010101" pitchFamily="18" charset="-12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83B056-DDC2-6642-53A9-82787E355C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8408" y="3044955"/>
            <a:ext cx="8560551" cy="802947"/>
          </a:xfrm>
        </p:spPr>
        <p:txBody>
          <a:bodyPr anchor="ctr" anchorCtr="0"/>
          <a:lstStyle/>
          <a:p>
            <a:r>
              <a:rPr lang="ko-KR" altLang="en-US" sz="3200" dirty="0">
                <a:latin typeface="HD현대체 Bold" panose="02090600000101010101" pitchFamily="18" charset="-127"/>
                <a:ea typeface="HD현대체 Bold" panose="02090600000101010101" pitchFamily="18" charset="-127"/>
              </a:rPr>
              <a:t>선적서류 고도화 개요</a:t>
            </a:r>
            <a:endParaRPr lang="en-US" altLang="ko-KR" sz="3200" dirty="0">
              <a:latin typeface="HD현대체 Bold" panose="02090600000101010101" pitchFamily="18" charset="-127"/>
              <a:ea typeface="HD현대체 Bold" panose="0209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363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E5C3A-5C12-87B6-E2CD-93B6F96E2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B1042D-4D5E-DE53-1CAB-2F5ECDEE473C}"/>
              </a:ext>
            </a:extLst>
          </p:cNvPr>
          <p:cNvSpPr txBox="1"/>
          <p:nvPr/>
        </p:nvSpPr>
        <p:spPr>
          <a:xfrm>
            <a:off x="524888" y="286265"/>
            <a:ext cx="6229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ko-KR" sz="3200" dirty="0">
                <a:solidFill>
                  <a:prstClr val="black"/>
                </a:solidFill>
                <a:latin typeface="현대체Bold" panose="02020603020101020101" pitchFamily="18" charset="-127"/>
                <a:ea typeface="현대체Bold" panose="02020603020101020101" pitchFamily="18" charset="-127"/>
              </a:rPr>
              <a:t>1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rPr>
              <a:t>.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rPr>
              <a:t>선적 </a:t>
            </a:r>
            <a:r>
              <a:rPr lang="ko-KR" altLang="en-US" sz="3200" dirty="0">
                <a:solidFill>
                  <a:prstClr val="black"/>
                </a:solidFill>
                <a:latin typeface="현대체Bold" panose="02020603020101020101" pitchFamily="18" charset="-127"/>
                <a:ea typeface="현대체Bold" panose="02020603020101020101" pitchFamily="18" charset="-127"/>
              </a:rPr>
              <a:t>프로세스 현황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체Bold" panose="02020603020101020101" pitchFamily="18" charset="-127"/>
              <a:ea typeface="현대체Bold" panose="02020603020101020101" pitchFamily="18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4BEDE8F-1430-2D75-DD76-37D7928864A6}"/>
              </a:ext>
            </a:extLst>
          </p:cNvPr>
          <p:cNvSpPr/>
          <p:nvPr/>
        </p:nvSpPr>
        <p:spPr>
          <a:xfrm>
            <a:off x="524888" y="1141567"/>
            <a:ext cx="166154" cy="16615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1477" b="1">
              <a:solidFill>
                <a:prstClr val="white"/>
              </a:solidFill>
              <a:latin typeface="현대체Light" panose="02020603020101020101" pitchFamily="18" charset="-127"/>
              <a:ea typeface="현대체Light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7521FF-873F-43CE-9DC9-BF083645AC34}"/>
              </a:ext>
            </a:extLst>
          </p:cNvPr>
          <p:cNvSpPr txBox="1"/>
          <p:nvPr/>
        </p:nvSpPr>
        <p:spPr>
          <a:xfrm flipH="1">
            <a:off x="772075" y="1039978"/>
            <a:ext cx="10425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수주 및 선적 프로세스 요약</a:t>
            </a:r>
          </a:p>
        </p:txBody>
      </p:sp>
      <p:graphicFrame>
        <p:nvGraphicFramePr>
          <p:cNvPr id="9" name="다이어그램 8">
            <a:extLst>
              <a:ext uri="{FF2B5EF4-FFF2-40B4-BE49-F238E27FC236}">
                <a16:creationId xmlns:a16="http://schemas.microsoft.com/office/drawing/2014/main" id="{D62A6335-81F2-E210-3A43-BA8EF878C8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7506158"/>
              </p:ext>
            </p:extLst>
          </p:nvPr>
        </p:nvGraphicFramePr>
        <p:xfrm>
          <a:off x="772075" y="1500306"/>
          <a:ext cx="10595006" cy="19286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6A0A753-2EE9-A395-F8D4-FB7BDA7F5528}"/>
              </a:ext>
            </a:extLst>
          </p:cNvPr>
          <p:cNvSpPr txBox="1"/>
          <p:nvPr/>
        </p:nvSpPr>
        <p:spPr>
          <a:xfrm flipH="1">
            <a:off x="691040" y="3118282"/>
            <a:ext cx="10991973" cy="1102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b="1" dirty="0" err="1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가선적</a:t>
            </a:r>
            <a:r>
              <a:rPr lang="ko-KR" altLang="en-US" sz="1500" b="1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 서류</a:t>
            </a:r>
            <a:r>
              <a:rPr lang="en-US" altLang="ko-KR" sz="1500" b="1" baseline="300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1)</a:t>
            </a:r>
            <a:r>
              <a:rPr lang="ko-KR" altLang="en-US" sz="1500" b="1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란</a:t>
            </a:r>
            <a:r>
              <a:rPr lang="en-US" altLang="ko-KR" sz="1500" b="1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?</a:t>
            </a:r>
            <a:r>
              <a:rPr lang="ko-KR" altLang="en-US" sz="1500" b="1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 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: 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해당 수주의 제품이 전량 생산 및 포장 완료되었다고 가정하여 선적서류를 작성 </a:t>
            </a:r>
            <a:r>
              <a:rPr lang="en-US" altLang="ko-KR" sz="12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(</a:t>
            </a:r>
            <a:r>
              <a:rPr lang="ko-KR" altLang="en-US" sz="12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팔레트 수량</a:t>
            </a:r>
            <a:r>
              <a:rPr lang="en-US" altLang="ko-KR" sz="12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/</a:t>
            </a:r>
            <a:r>
              <a:rPr lang="ko-KR" altLang="en-US" sz="12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컨테이너 종류</a:t>
            </a:r>
            <a:r>
              <a:rPr lang="en-US" altLang="ko-KR" sz="12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, </a:t>
            </a:r>
            <a:r>
              <a:rPr lang="ko-KR" altLang="en-US" sz="12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수량</a:t>
            </a:r>
            <a:r>
              <a:rPr lang="en-US" altLang="ko-KR" sz="12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b="1" dirty="0" err="1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가선적</a:t>
            </a:r>
            <a:r>
              <a:rPr lang="ko-KR" altLang="en-US" sz="1500" b="1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 서류 사유 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: 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월말 수주 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&amp; 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차월 선적을 위해 선박을 미리 </a:t>
            </a:r>
            <a:r>
              <a:rPr lang="ko-KR" altLang="en-US" sz="1500" dirty="0" err="1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부킹해야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 하는 상황이 많으며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, 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컨테이너 종류 및 수량을 </a:t>
            </a:r>
            <a:r>
              <a:rPr lang="ko-KR" altLang="en-US" sz="1500" dirty="0" err="1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포워더에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 공유해야 </a:t>
            </a:r>
            <a:r>
              <a:rPr lang="ko-KR" altLang="en-US" sz="1500" dirty="0" err="1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부킹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 가능</a:t>
            </a:r>
            <a:endParaRPr lang="en-US" altLang="ko-KR" sz="1500" dirty="0">
              <a:latin typeface="HD현대체  Light" panose="02090600000101010101" pitchFamily="18" charset="-127"/>
              <a:ea typeface="HD현대체  Light" panose="0209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b="1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분할 선적</a:t>
            </a:r>
            <a:r>
              <a:rPr lang="en-US" altLang="ko-KR" sz="1500" b="1" baseline="300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2)</a:t>
            </a:r>
            <a:r>
              <a:rPr lang="ko-KR" altLang="en-US" sz="1500" b="1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란</a:t>
            </a:r>
            <a:r>
              <a:rPr lang="en-US" altLang="ko-KR" sz="1500" b="1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? 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: 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당사 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or 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고객 요청에 의해 수주 전량 선적하지 않고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, 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일부만 선적 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선적 분리로 인한 선적서류 재작성</a:t>
            </a:r>
            <a:endParaRPr lang="en-US" altLang="ko-KR" sz="1500" dirty="0">
              <a:latin typeface="HD현대체  Light" panose="02090600000101010101" pitchFamily="18" charset="-127"/>
              <a:ea typeface="HD현대체  Light" panose="02090600000101010101" pitchFamily="18" charset="-127"/>
              <a:sym typeface="Wingdings" panose="05000000000000000000" pitchFamily="2" charset="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F3ED8B-CA1A-69EE-01E7-AE5E8CC8DE0D}"/>
              </a:ext>
            </a:extLst>
          </p:cNvPr>
          <p:cNvSpPr txBox="1"/>
          <p:nvPr/>
        </p:nvSpPr>
        <p:spPr>
          <a:xfrm>
            <a:off x="691040" y="4288932"/>
            <a:ext cx="10910938" cy="1794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b="1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문제점</a:t>
            </a:r>
            <a:br>
              <a:rPr lang="en-US" altLang="ko-KR" sz="18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</a:b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1) </a:t>
            </a:r>
            <a:r>
              <a:rPr lang="ko-KR" altLang="en-US" sz="1500" b="1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컨테이너 산정 오차 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: 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컨테이너 부족 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or 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과다 발생 가능성 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물류 비용 증가 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(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예시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: </a:t>
            </a:r>
            <a:r>
              <a:rPr lang="ko-KR" altLang="en-US" sz="1500" dirty="0" err="1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가선적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 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40ft 2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개 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1500" dirty="0" err="1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실포장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 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40ft 1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개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, 20ft 1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개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)</a:t>
            </a:r>
            <a:b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</a:b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2) </a:t>
            </a:r>
            <a:r>
              <a:rPr lang="ko-KR" altLang="en-US" sz="1500" b="1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업무 비효율 누적 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: 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공장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영업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sz="1500" dirty="0" err="1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포워더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 간 커뮤니케이션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(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컨테이너 취소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추가 등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)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 과다 증가 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타 업무 지연 유발 가능성</a:t>
            </a:r>
            <a:b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</a:b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3) </a:t>
            </a:r>
            <a:r>
              <a:rPr lang="ko-KR" altLang="en-US" sz="1500" b="1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업무량 과부하 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: ‘25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년 월 평균 해외영업부 수주는 약 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136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건으로 </a:t>
            </a:r>
            <a:r>
              <a:rPr lang="ko-KR" altLang="en-US" sz="1500" dirty="0" err="1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중저차생산부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 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2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인이 전담하고 있으며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sz="1500" dirty="0" err="1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가선적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 서류 작성 및 분할 선적까지</a:t>
            </a:r>
            <a:b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</a:b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                                 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 더한다면 매월 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200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건에 달하는 문서작업 필요함 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(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현재 </a:t>
            </a:r>
            <a:r>
              <a:rPr lang="ko-KR" altLang="en-US" sz="1500" dirty="0" err="1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반자동화된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 정보로 서류 작성 중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)  </a:t>
            </a:r>
            <a:r>
              <a:rPr lang="ko-KR" altLang="en-US" sz="1500" dirty="0" err="1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휴먼에러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 가능성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460743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B7F33-856B-6B7C-76DB-8D8C49C49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1F2A02-AE1B-C33B-FE13-15CA0489747B}"/>
              </a:ext>
            </a:extLst>
          </p:cNvPr>
          <p:cNvSpPr txBox="1"/>
          <p:nvPr/>
        </p:nvSpPr>
        <p:spPr>
          <a:xfrm>
            <a:off x="524888" y="286265"/>
            <a:ext cx="71812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ko-KR" sz="3200" dirty="0">
                <a:solidFill>
                  <a:prstClr val="black"/>
                </a:solidFill>
                <a:latin typeface="현대체Bold" panose="02020603020101020101" pitchFamily="18" charset="-127"/>
                <a:ea typeface="현대체Bold" panose="02020603020101020101" pitchFamily="18" charset="-127"/>
              </a:rPr>
              <a:t>2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rPr>
              <a:t>. </a:t>
            </a:r>
            <a:r>
              <a:rPr kumimoji="0" lang="ko-KR" alt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rPr>
              <a:t>가선적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rPr>
              <a:t> 서류 현황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E3EAEE-FD3D-EBB9-8516-99A926EEAE12}"/>
              </a:ext>
            </a:extLst>
          </p:cNvPr>
          <p:cNvSpPr txBox="1"/>
          <p:nvPr/>
        </p:nvSpPr>
        <p:spPr>
          <a:xfrm flipH="1">
            <a:off x="524888" y="871040"/>
            <a:ext cx="24224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수주번호 </a:t>
            </a:r>
            <a:r>
              <a:rPr lang="en-US" altLang="ko-KR" sz="1600" b="1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23052675 PI</a:t>
            </a:r>
            <a:endParaRPr lang="en-US" altLang="ko-KR" sz="1500" dirty="0">
              <a:latin typeface="HD현대체  Light" panose="02090600000101010101" pitchFamily="18" charset="-127"/>
              <a:ea typeface="HD현대체  Light" panose="02090600000101010101" pitchFamily="18" charset="-127"/>
              <a:sym typeface="Wingdings" panose="05000000000000000000" pitchFamily="2" charset="2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03FD7D1-3225-E13B-66E5-79F82854D1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313"/>
          <a:stretch>
            <a:fillRect/>
          </a:stretch>
        </p:blipFill>
        <p:spPr>
          <a:xfrm>
            <a:off x="524888" y="1301927"/>
            <a:ext cx="2622573" cy="4805910"/>
          </a:xfrm>
          <a:prstGeom prst="rect">
            <a:avLst/>
          </a:prstGeom>
          <a:ln>
            <a:solidFill>
              <a:srgbClr val="00B0F0"/>
            </a:solidFill>
          </a:ln>
        </p:spPr>
      </p:pic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9716B34F-7B43-2ED4-2404-00CFCE9EC797}"/>
              </a:ext>
            </a:extLst>
          </p:cNvPr>
          <p:cNvSpPr/>
          <p:nvPr/>
        </p:nvSpPr>
        <p:spPr>
          <a:xfrm>
            <a:off x="5674311" y="2068160"/>
            <a:ext cx="843378" cy="1091953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7B2DE54-771D-F956-D2B6-F79036C8C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7657" y="1301927"/>
            <a:ext cx="3269247" cy="4468681"/>
          </a:xfrm>
          <a:prstGeom prst="rect">
            <a:avLst/>
          </a:prstGeom>
          <a:ln>
            <a:solidFill>
              <a:srgbClr val="00B0F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28BD9B-876C-D019-68B5-39823CA8A72F}"/>
              </a:ext>
            </a:extLst>
          </p:cNvPr>
          <p:cNvSpPr txBox="1"/>
          <p:nvPr/>
        </p:nvSpPr>
        <p:spPr>
          <a:xfrm flipH="1">
            <a:off x="8634822" y="871040"/>
            <a:ext cx="24224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 err="1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가선적</a:t>
            </a:r>
            <a:r>
              <a:rPr lang="ko-KR" altLang="en-US" sz="1600" b="1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 서류</a:t>
            </a:r>
            <a:endParaRPr lang="en-US" altLang="ko-KR" sz="1500" dirty="0">
              <a:latin typeface="HD현대체  Light" panose="02090600000101010101" pitchFamily="18" charset="-127"/>
              <a:ea typeface="HD현대체  Light" panose="02090600000101010101" pitchFamily="18" charset="-127"/>
              <a:sym typeface="Wingdings" panose="05000000000000000000" pitchFamily="2" charset="2"/>
            </a:endParaRPr>
          </a:p>
        </p:txBody>
      </p:sp>
      <p:sp>
        <p:nvSpPr>
          <p:cNvPr id="8" name="TextBox 14">
            <a:extLst>
              <a:ext uri="{FF2B5EF4-FFF2-40B4-BE49-F238E27FC236}">
                <a16:creationId xmlns:a16="http://schemas.microsoft.com/office/drawing/2014/main" id="{8077491E-859A-5136-7651-B2162EF493F1}"/>
              </a:ext>
            </a:extLst>
          </p:cNvPr>
          <p:cNvSpPr txBox="1"/>
          <p:nvPr/>
        </p:nvSpPr>
        <p:spPr>
          <a:xfrm>
            <a:off x="3290933" y="3628640"/>
            <a:ext cx="5217799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 algn="l" defTabSz="914400" rtl="0" eaLnBrk="1" latinLnBrk="0" hangingPunct="1">
              <a:lnSpc>
                <a:spcPct val="200000"/>
              </a:lnSpc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HD현대체  Medium" panose="02090600000101010101" pitchFamily="18" charset="-127"/>
                <a:ea typeface="HD현대체  Medium" panose="02090600000101010101" pitchFamily="18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1100*1100*1120 </a:t>
            </a:r>
            <a:r>
              <a:rPr lang="ko-KR" altLang="en-US" sz="12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팔레트</a:t>
            </a:r>
            <a:br>
              <a:rPr lang="en-US" altLang="ko-KR" sz="12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</a:br>
            <a:r>
              <a:rPr lang="en-US" altLang="ko-KR" sz="12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Case1</a:t>
            </a:r>
            <a:r>
              <a:rPr lang="ko-KR" altLang="en-US" sz="12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에는 </a:t>
            </a:r>
            <a:r>
              <a:rPr lang="en-US" altLang="ko-KR" sz="12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MCCB 42</a:t>
            </a:r>
            <a:r>
              <a:rPr lang="ko-KR" altLang="en-US" sz="12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대</a:t>
            </a:r>
            <a:r>
              <a:rPr lang="en-US" altLang="ko-KR" sz="12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 </a:t>
            </a:r>
            <a:r>
              <a:rPr lang="ko-KR" altLang="en-US" sz="12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적재</a:t>
            </a:r>
            <a:br>
              <a:rPr lang="en-US" altLang="ko-KR" sz="12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</a:br>
            <a:r>
              <a:rPr lang="en-US" altLang="ko-KR" sz="12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Case3</a:t>
            </a:r>
            <a:r>
              <a:rPr lang="ko-KR" altLang="en-US" sz="12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에는 </a:t>
            </a:r>
            <a:r>
              <a:rPr lang="en-US" altLang="ko-KR" sz="12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MCCB 90</a:t>
            </a:r>
            <a:r>
              <a:rPr lang="ko-KR" altLang="en-US" sz="12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대</a:t>
            </a:r>
            <a:r>
              <a:rPr lang="en-US" altLang="ko-KR" sz="12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, MC 318</a:t>
            </a:r>
            <a:r>
              <a:rPr lang="ko-KR" altLang="en-US" sz="12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대 적재되었다고 가정</a:t>
            </a:r>
            <a:endParaRPr lang="en-US" altLang="ko-KR" sz="1200" dirty="0">
              <a:latin typeface="HD현대체  Light" panose="02090600000101010101" pitchFamily="18" charset="-127"/>
              <a:ea typeface="HD현대체  Light" panose="02090600000101010101" pitchFamily="18" charset="-127"/>
            </a:endParaRPr>
          </a:p>
          <a:p>
            <a:r>
              <a:rPr lang="en-US" altLang="ko-KR" sz="12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ACB</a:t>
            </a:r>
            <a:r>
              <a:rPr lang="ko-KR" altLang="en-US" sz="12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의 경우</a:t>
            </a:r>
            <a:r>
              <a:rPr lang="en-US" altLang="ko-KR" sz="12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, A~D frame </a:t>
            </a:r>
            <a:r>
              <a:rPr lang="ko-KR" altLang="en-US" sz="12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별로 팔레트 사이즈 및 무게가 상이함</a:t>
            </a:r>
            <a:endParaRPr lang="en-US" altLang="ko-KR" sz="1200" dirty="0">
              <a:latin typeface="HD현대체  Light" panose="02090600000101010101" pitchFamily="18" charset="-127"/>
              <a:ea typeface="HD현대체  Light" panose="02090600000101010101" pitchFamily="18" charset="-127"/>
            </a:endParaRPr>
          </a:p>
          <a:p>
            <a:r>
              <a:rPr lang="en-US" altLang="ko-KR" sz="12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VCB</a:t>
            </a:r>
            <a:r>
              <a:rPr lang="ko-KR" altLang="en-US" sz="12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의 경우</a:t>
            </a:r>
            <a:r>
              <a:rPr lang="en-US" altLang="ko-KR" sz="12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, </a:t>
            </a:r>
            <a:r>
              <a:rPr lang="ko-KR" altLang="en-US" sz="12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추가되는 옵션별로 전체 </a:t>
            </a:r>
            <a:r>
              <a:rPr lang="en-US" altLang="ko-KR" sz="12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CBM</a:t>
            </a:r>
            <a:r>
              <a:rPr lang="ko-KR" altLang="en-US" sz="12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 변동되어 우든 포장이 달라지므로 판단 어려움</a:t>
            </a:r>
            <a:r>
              <a:rPr lang="en-US" altLang="ko-KR" sz="12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 </a:t>
            </a:r>
            <a:r>
              <a:rPr lang="en-US" altLang="ko-KR" sz="11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(</a:t>
            </a:r>
            <a:r>
              <a:rPr lang="ko-KR" altLang="en-US" sz="11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과거 이력 검색</a:t>
            </a:r>
            <a:r>
              <a:rPr lang="en-US" altLang="ko-KR" sz="1100" dirty="0">
                <a:latin typeface="HD현대체  Light" panose="02090600000101010101" pitchFamily="18" charset="-127"/>
                <a:ea typeface="HD현대체  Light" panose="02090600000101010101" pitchFamily="18" charset="-127"/>
              </a:rPr>
              <a:t>)</a:t>
            </a:r>
          </a:p>
          <a:p>
            <a:pPr marL="0" indent="0">
              <a:buNone/>
            </a:pPr>
            <a:r>
              <a:rPr lang="en-US" altLang="ko-KR" sz="1200" b="1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1200" b="1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개인의 경험과 기반 지식에 따라 해당 업무효율이 달라짐</a:t>
            </a:r>
            <a:endParaRPr lang="en-US" altLang="ko-KR" sz="1200" b="1" dirty="0">
              <a:latin typeface="HD현대체  Light" panose="02090600000101010101" pitchFamily="18" charset="-127"/>
              <a:ea typeface="HD현대체  Light" panose="0209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8086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6E1A1-2402-2E86-301F-81886CBBA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B343DC-BA4F-D82D-1FFA-11DD95971DB0}"/>
              </a:ext>
            </a:extLst>
          </p:cNvPr>
          <p:cNvSpPr txBox="1"/>
          <p:nvPr/>
        </p:nvSpPr>
        <p:spPr>
          <a:xfrm>
            <a:off x="524888" y="286265"/>
            <a:ext cx="6229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ko-KR" sz="3200" dirty="0">
                <a:solidFill>
                  <a:prstClr val="black"/>
                </a:solidFill>
                <a:latin typeface="현대체Bold" panose="02020603020101020101" pitchFamily="18" charset="-127"/>
                <a:ea typeface="현대체Bold" panose="02020603020101020101" pitchFamily="18" charset="-127"/>
              </a:rPr>
              <a:t>2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rPr>
              <a:t>. </a:t>
            </a:r>
            <a:r>
              <a:rPr kumimoji="0" lang="ko-KR" alt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rPr>
              <a:t>가선적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rPr>
              <a:t> 서류 현황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ACD894-594F-C28A-210E-21541EA52973}"/>
              </a:ext>
            </a:extLst>
          </p:cNvPr>
          <p:cNvSpPr txBox="1"/>
          <p:nvPr/>
        </p:nvSpPr>
        <p:spPr>
          <a:xfrm flipH="1">
            <a:off x="391723" y="1034451"/>
            <a:ext cx="4094176" cy="1471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400" b="1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포장 및 제품 정보 </a:t>
            </a:r>
            <a:r>
              <a:rPr lang="en-US" altLang="ko-KR" sz="1400" b="1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DB</a:t>
            </a:r>
            <a:r>
              <a:rPr lang="ko-KR" altLang="en-US" sz="1400" b="1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 누락</a:t>
            </a:r>
            <a:br>
              <a:rPr lang="en-US" altLang="ko-KR" sz="1400" b="1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</a:b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- 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포장박스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중량 등 제품정보 누락 존재</a:t>
            </a:r>
            <a:b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</a:b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- 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제품별 박스 규격 표준화 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(</a:t>
            </a:r>
            <a:r>
              <a:rPr lang="ko-KR" altLang="en-US" sz="1500" dirty="0" err="1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옵션류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 표준화 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X)</a:t>
            </a:r>
            <a:b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</a:b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- VCB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 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: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 </a:t>
            </a:r>
            <a:r>
              <a:rPr lang="ko-KR" altLang="en-US" sz="1500" dirty="0" err="1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우든포장으로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 과거이력 찾는 방식</a:t>
            </a:r>
            <a:endParaRPr lang="en-US" altLang="ko-KR" sz="1500" dirty="0">
              <a:latin typeface="HD현대체  Light" panose="02090600000101010101" pitchFamily="18" charset="-127"/>
              <a:ea typeface="HD현대체  Light" panose="02090600000101010101" pitchFamily="18" charset="-127"/>
              <a:sym typeface="Wingdings" panose="05000000000000000000" pitchFamily="2" charset="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A0365F-5954-EFDE-D578-E42334B6E1BC}"/>
              </a:ext>
            </a:extLst>
          </p:cNvPr>
          <p:cNvSpPr txBox="1"/>
          <p:nvPr/>
        </p:nvSpPr>
        <p:spPr>
          <a:xfrm flipH="1">
            <a:off x="4094177" y="1034451"/>
            <a:ext cx="4094177" cy="1402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600" b="1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업무 효율 및 정확도 불균형</a:t>
            </a:r>
            <a:br>
              <a:rPr lang="en-US" altLang="ko-KR" sz="1500" b="1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</a:b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- 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경험과 기반 지식에 따라 업무 효율 편차가 큼</a:t>
            </a:r>
            <a:b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</a:br>
            <a:r>
              <a:rPr lang="en-US" altLang="ko-KR" sz="12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   (</a:t>
            </a:r>
            <a:r>
              <a:rPr lang="ko-KR" altLang="en-US" sz="12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제품코드 및 실제제품 크기의 이해도 ▼</a:t>
            </a:r>
            <a:r>
              <a:rPr lang="en-US" altLang="ko-KR" sz="12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)</a:t>
            </a:r>
            <a:b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</a:b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- 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신규 담당자 부임 시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업무 연속성 리스크 존재</a:t>
            </a:r>
            <a:endParaRPr lang="en-US" altLang="ko-KR" sz="1500" dirty="0">
              <a:latin typeface="HD현대체  Light" panose="02090600000101010101" pitchFamily="18" charset="-127"/>
              <a:ea typeface="HD현대체  Light" panose="02090600000101010101" pitchFamily="18" charset="-127"/>
              <a:sym typeface="Wingdings" panose="05000000000000000000" pitchFamily="2" charset="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886052-4BFF-3CD5-5754-2B4C07FC427F}"/>
              </a:ext>
            </a:extLst>
          </p:cNvPr>
          <p:cNvSpPr txBox="1"/>
          <p:nvPr/>
        </p:nvSpPr>
        <p:spPr>
          <a:xfrm flipH="1">
            <a:off x="8035680" y="1034451"/>
            <a:ext cx="4094176" cy="1125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600" b="1" dirty="0" err="1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가선적</a:t>
            </a:r>
            <a:r>
              <a:rPr lang="ko-KR" altLang="en-US" sz="1600" b="1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 서류 작성 시점 자체의 구조적 문제</a:t>
            </a:r>
            <a:br>
              <a:rPr lang="en-US" altLang="ko-KR" sz="1500" b="1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</a:b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- 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생산 전 단계에서 가상의 정보를 기반으로 산정</a:t>
            </a:r>
            <a:b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</a:b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- 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월말 수주 집중 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시간 임박 심각</a:t>
            </a:r>
            <a:endParaRPr lang="en-US" altLang="ko-KR" sz="1500" dirty="0">
              <a:latin typeface="HD현대체  Light" panose="02090600000101010101" pitchFamily="18" charset="-127"/>
              <a:ea typeface="HD현대체  Light" panose="02090600000101010101" pitchFamily="18" charset="-127"/>
              <a:sym typeface="Wingdings" panose="05000000000000000000" pitchFamily="2" charset="2"/>
            </a:endParaRP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E2DBE4E8-3E88-9667-0EAB-A2FC930DB9F8}"/>
              </a:ext>
            </a:extLst>
          </p:cNvPr>
          <p:cNvSpPr/>
          <p:nvPr/>
        </p:nvSpPr>
        <p:spPr>
          <a:xfrm rot="5400000">
            <a:off x="5674310" y="2716230"/>
            <a:ext cx="843378" cy="1091953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293E99-DA69-78B9-A91F-9DE268EC3CF8}"/>
              </a:ext>
            </a:extLst>
          </p:cNvPr>
          <p:cNvSpPr txBox="1"/>
          <p:nvPr/>
        </p:nvSpPr>
        <p:spPr>
          <a:xfrm flipH="1">
            <a:off x="535244" y="3964215"/>
            <a:ext cx="11372294" cy="204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 err="1"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가선적</a:t>
            </a:r>
            <a:r>
              <a:rPr lang="ko-KR" altLang="en-US" dirty="0"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 서류 작성은 비효율이 크나</a:t>
            </a:r>
            <a:r>
              <a:rPr lang="en-US" altLang="ko-KR" dirty="0"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, </a:t>
            </a:r>
            <a:r>
              <a:rPr lang="ko-KR" altLang="en-US" dirty="0"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실제 포장 완료</a:t>
            </a:r>
            <a:r>
              <a:rPr lang="en-US" altLang="ko-KR" dirty="0"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,</a:t>
            </a:r>
            <a:r>
              <a:rPr lang="ko-KR" altLang="en-US" dirty="0"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 선적서류 발행 후 선복 </a:t>
            </a:r>
            <a:r>
              <a:rPr lang="ko-KR" altLang="en-US" dirty="0" err="1"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부킹은</a:t>
            </a:r>
            <a:r>
              <a:rPr lang="ko-KR" altLang="en-US" dirty="0"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 현실적으로 불가능</a:t>
            </a:r>
            <a:r>
              <a:rPr lang="en-US" altLang="ko-KR" dirty="0"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 </a:t>
            </a:r>
            <a:r>
              <a:rPr lang="en-US" altLang="ko-KR" sz="1400" dirty="0"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(</a:t>
            </a:r>
            <a:r>
              <a:rPr lang="ko-KR" altLang="en-US" sz="1400" dirty="0"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서류마감 직전까지 생산</a:t>
            </a:r>
            <a:r>
              <a:rPr lang="en-US" altLang="ko-KR" sz="1400" dirty="0"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,</a:t>
            </a:r>
            <a:r>
              <a:rPr lang="ko-KR" altLang="en-US" sz="1400" dirty="0"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포장 수행</a:t>
            </a:r>
            <a:r>
              <a:rPr lang="en-US" altLang="ko-KR" sz="1400" dirty="0"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)</a:t>
            </a:r>
            <a:endParaRPr lang="en-US" altLang="ko-KR" sz="1200" dirty="0">
              <a:latin typeface="HD현대체  Medium" panose="02090600000101010101" pitchFamily="18" charset="-127"/>
              <a:ea typeface="HD현대체  Medium" panose="02090600000101010101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600" dirty="0">
              <a:latin typeface="HD현대체  Medium" panose="02090600000101010101" pitchFamily="18" charset="-127"/>
              <a:ea typeface="HD현대체  Medium" panose="0209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선복 확보를 위한 </a:t>
            </a:r>
            <a:r>
              <a:rPr lang="ko-KR" altLang="en-US" dirty="0" err="1"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가선적</a:t>
            </a:r>
            <a:r>
              <a:rPr lang="ko-KR" altLang="en-US" dirty="0"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 서류 작성은 불가피한 상황임</a:t>
            </a:r>
            <a:endParaRPr lang="en-US" altLang="ko-KR" dirty="0">
              <a:latin typeface="HD현대체  Medium" panose="02090600000101010101" pitchFamily="18" charset="-127"/>
              <a:ea typeface="HD현대체  Medium" panose="02090600000101010101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600" b="1" dirty="0">
              <a:latin typeface="HD현대체  Medium" panose="02090600000101010101" pitchFamily="18" charset="-127"/>
              <a:ea typeface="HD현대체  Medium" panose="0209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i="1" dirty="0"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‘28</a:t>
            </a:r>
            <a:r>
              <a:rPr lang="ko-KR" altLang="en-US" b="1" i="1" dirty="0"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년 수주</a:t>
            </a:r>
            <a:r>
              <a:rPr lang="en-US" altLang="ko-KR" b="1" i="1" dirty="0"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/</a:t>
            </a:r>
            <a:r>
              <a:rPr lang="ko-KR" altLang="en-US" b="1" i="1" dirty="0"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매출 달성을 위해서는 </a:t>
            </a:r>
            <a:r>
              <a:rPr lang="ko-KR" altLang="en-US" b="1" i="1" dirty="0" err="1"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가선적</a:t>
            </a:r>
            <a:r>
              <a:rPr lang="ko-KR" altLang="en-US" b="1" i="1" dirty="0"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 서류 자동화 시스템 구축이 필수 선결과제로 판단됨</a:t>
            </a:r>
            <a:endParaRPr lang="ko-KR" altLang="en-US" i="1" dirty="0">
              <a:latin typeface="HD현대체  Medium" panose="02090600000101010101" pitchFamily="18" charset="-127"/>
              <a:ea typeface="HD현대체  Medium" panose="0209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675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D2DC9-98E5-34C0-618D-1AD9185F7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B80D45-C53C-EC33-3D81-0A0C20235D6C}"/>
              </a:ext>
            </a:extLst>
          </p:cNvPr>
          <p:cNvSpPr txBox="1"/>
          <p:nvPr/>
        </p:nvSpPr>
        <p:spPr>
          <a:xfrm>
            <a:off x="524888" y="286265"/>
            <a:ext cx="6229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ko-KR" sz="3200" dirty="0">
                <a:solidFill>
                  <a:prstClr val="black"/>
                </a:solidFill>
                <a:latin typeface="현대체Bold" panose="02020603020101020101" pitchFamily="18" charset="-127"/>
                <a:ea typeface="현대체Bold" panose="02020603020101020101" pitchFamily="18" charset="-127"/>
              </a:rPr>
              <a:t>3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rPr>
              <a:t>. </a:t>
            </a:r>
            <a:r>
              <a:rPr kumimoji="0" lang="ko-KR" alt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rPr>
              <a:t>가선적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rPr>
              <a:t> 서류 개발 필요 사항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476AFC-B72E-9A97-6F0A-C09C4C565BBE}"/>
              </a:ext>
            </a:extLst>
          </p:cNvPr>
          <p:cNvSpPr txBox="1"/>
          <p:nvPr/>
        </p:nvSpPr>
        <p:spPr>
          <a:xfrm flipH="1">
            <a:off x="391721" y="1034451"/>
            <a:ext cx="11668733" cy="1102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500" b="1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제품 정보 </a:t>
            </a:r>
            <a:r>
              <a:rPr lang="en-US" altLang="ko-KR" sz="1500" b="1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DB</a:t>
            </a:r>
            <a:r>
              <a:rPr lang="ko-KR" altLang="en-US" sz="1500" b="1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화</a:t>
            </a:r>
            <a:endParaRPr lang="en-US" altLang="ko-KR" sz="1500" b="1" dirty="0">
              <a:latin typeface="HD현대체  Light" panose="02090600000101010101" pitchFamily="18" charset="-127"/>
              <a:ea typeface="HD현대체  Light" panose="02090600000101010101" pitchFamily="18" charset="-127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         - 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당사에서 보유하고 있는 선적서류 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5~7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개년치의 엑셀파일에서 각 제품코드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(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약 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3~4</a:t>
            </a:r>
            <a:r>
              <a:rPr lang="ko-KR" altLang="en-US" sz="1500" dirty="0" err="1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만여개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)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의 무게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부피 정보 등을 알고리즘 분석 및 조합하여 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DB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화</a:t>
            </a:r>
            <a:endParaRPr lang="en-US" altLang="ko-KR" sz="1500" dirty="0">
              <a:latin typeface="HD현대체  Light" panose="02090600000101010101" pitchFamily="18" charset="-127"/>
              <a:ea typeface="HD현대체  Light" panose="02090600000101010101" pitchFamily="18" charset="-127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         - 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신규제품 개발 시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정보 업데이트 기능 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(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확장성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)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 </a:t>
            </a:r>
            <a:endParaRPr lang="en-US" altLang="ko-KR" sz="1500" dirty="0">
              <a:latin typeface="HD현대체  Light" panose="02090600000101010101" pitchFamily="18" charset="-127"/>
              <a:ea typeface="HD현대체  Light" panose="02090600000101010101" pitchFamily="18" charset="-127"/>
              <a:sym typeface="Wingdings" panose="05000000000000000000" pitchFamily="2" charset="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AE66D7-5313-8A27-E108-9530D7D68413}"/>
              </a:ext>
            </a:extLst>
          </p:cNvPr>
          <p:cNvSpPr txBox="1"/>
          <p:nvPr/>
        </p:nvSpPr>
        <p:spPr>
          <a:xfrm flipH="1">
            <a:off x="391720" y="4258220"/>
            <a:ext cx="10802461" cy="755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500" b="1" dirty="0" err="1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인토라스</a:t>
            </a:r>
            <a:r>
              <a:rPr lang="en-US" altLang="ko-KR" sz="1500" b="1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3</a:t>
            </a:r>
            <a:r>
              <a:rPr lang="ko-KR" altLang="en-US" sz="1500" b="1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 내 </a:t>
            </a:r>
            <a:r>
              <a:rPr lang="en-US" altLang="ko-KR" sz="1500" b="1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UI </a:t>
            </a:r>
            <a:r>
              <a:rPr lang="ko-KR" altLang="en-US" sz="1500" b="1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개발 및 구축</a:t>
            </a:r>
            <a:br>
              <a:rPr lang="en-US" altLang="ko-KR" sz="1500" b="1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</a:b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- 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당사 </a:t>
            </a:r>
            <a:r>
              <a:rPr lang="ko-KR" altLang="en-US" sz="1500" dirty="0" err="1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인토라스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3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 시스템 내 해당 출력 기능 구축</a:t>
            </a:r>
            <a:endParaRPr lang="en-US" altLang="ko-KR" sz="1500" dirty="0">
              <a:latin typeface="HD현대체  Light" panose="02090600000101010101" pitchFamily="18" charset="-127"/>
              <a:ea typeface="HD현대체  Light" panose="02090600000101010101" pitchFamily="18" charset="-127"/>
              <a:sym typeface="Wingdings" panose="05000000000000000000" pitchFamily="2" charset="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281C4F-879E-A7B3-CDA4-4D7CF28B0113}"/>
              </a:ext>
            </a:extLst>
          </p:cNvPr>
          <p:cNvSpPr txBox="1"/>
          <p:nvPr/>
        </p:nvSpPr>
        <p:spPr>
          <a:xfrm flipH="1">
            <a:off x="391720" y="2300087"/>
            <a:ext cx="11668733" cy="1794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500" b="1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가선적서류 자동화 </a:t>
            </a:r>
            <a:r>
              <a:rPr lang="en-US" altLang="ko-KR" sz="1500" b="1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(</a:t>
            </a:r>
            <a:r>
              <a:rPr lang="ko-KR" altLang="en-US" sz="1500" b="1" dirty="0" err="1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머신러닝</a:t>
            </a:r>
            <a:r>
              <a:rPr lang="ko-KR" altLang="en-US" sz="1500" b="1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 기반</a:t>
            </a:r>
            <a:r>
              <a:rPr lang="en-US" altLang="ko-KR" sz="1500" b="1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         - 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주문 입력 시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각 제품과 수량을 산정하여 최적화된 팔레트 사이즈와 팔레트 수량을 예측 산정</a:t>
            </a:r>
            <a:endParaRPr lang="en-US" altLang="ko-KR" sz="1500" dirty="0">
              <a:latin typeface="HD현대체  Light" panose="02090600000101010101" pitchFamily="18" charset="-127"/>
              <a:ea typeface="HD현대체  Light" panose="02090600000101010101" pitchFamily="18" charset="-127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         - 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팔레트 부피와 수량을 바탕으로 최적의 컨테이너 종류 및 수량 산정</a:t>
            </a:r>
            <a:endParaRPr lang="en-US" altLang="ko-KR" sz="1500" dirty="0">
              <a:latin typeface="HD현대체  Light" panose="02090600000101010101" pitchFamily="18" charset="-127"/>
              <a:ea typeface="HD현대체  Light" panose="02090600000101010101" pitchFamily="18" charset="-127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         - 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검증 단계를 거쳐 당사 선적서류 양식에 맞게 주문별 출력 기능 개발</a:t>
            </a:r>
            <a:endParaRPr lang="en-US" altLang="ko-KR" sz="1500" dirty="0">
              <a:latin typeface="HD현대체  Light" panose="02090600000101010101" pitchFamily="18" charset="-127"/>
              <a:ea typeface="HD현대체  Light" panose="02090600000101010101" pitchFamily="18" charset="-127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         - 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주문건별 합산 </a:t>
            </a:r>
            <a:r>
              <a:rPr lang="ko-KR" altLang="en-US" sz="1500" dirty="0" err="1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가선적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 서류 출력기능 개발</a:t>
            </a:r>
            <a:endParaRPr lang="en-US" altLang="ko-KR" sz="1500" dirty="0">
              <a:latin typeface="HD현대체  Light" panose="02090600000101010101" pitchFamily="18" charset="-127"/>
              <a:ea typeface="HD현대체  Light" panose="02090600000101010101" pitchFamily="18" charset="-127"/>
              <a:sym typeface="Wingdings" panose="05000000000000000000" pitchFamily="2" charset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9D9315-A73A-ED02-B4C2-97C2CCBECCAA}"/>
              </a:ext>
            </a:extLst>
          </p:cNvPr>
          <p:cNvSpPr txBox="1"/>
          <p:nvPr/>
        </p:nvSpPr>
        <p:spPr>
          <a:xfrm flipH="1">
            <a:off x="391720" y="5338292"/>
            <a:ext cx="10802461" cy="755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500" b="1" dirty="0" err="1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사내망</a:t>
            </a:r>
            <a:r>
              <a:rPr lang="ko-KR" altLang="en-US" sz="1500" b="1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 한정 개발</a:t>
            </a:r>
            <a:endParaRPr lang="en-US" altLang="ko-KR" sz="1500" b="1" dirty="0">
              <a:latin typeface="HD현대체  Light" panose="02090600000101010101" pitchFamily="18" charset="-127"/>
              <a:ea typeface="HD현대체  Light" panose="02090600000101010101" pitchFamily="18" charset="-127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500" b="1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        - 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 당사 민감정보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(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고객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금액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)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이 포함되어 있으므로</a:t>
            </a:r>
            <a:r>
              <a:rPr lang="en-US" altLang="ko-KR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sz="1500" dirty="0">
                <a:latin typeface="HD현대체  Light" panose="02090600000101010101" pitchFamily="18" charset="-127"/>
                <a:ea typeface="HD현대체  Light" panose="02090600000101010101" pitchFamily="18" charset="-127"/>
                <a:sym typeface="Wingdings" panose="05000000000000000000" pitchFamily="2" charset="2"/>
              </a:rPr>
              <a:t>모든 데이터 및 개발은 사내망에서만 가능</a:t>
            </a:r>
            <a:endParaRPr lang="en-US" altLang="ko-KR" sz="1500" dirty="0">
              <a:latin typeface="HD현대체  Light" panose="02090600000101010101" pitchFamily="18" charset="-127"/>
              <a:ea typeface="HD현대체  Light" panose="02090600000101010101" pitchFamily="18" charset="-127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76419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B1B2B4"/>
      </a:dk2>
      <a:lt2>
        <a:srgbClr val="E0E0E1"/>
      </a:lt2>
      <a:accent1>
        <a:srgbClr val="00E600"/>
      </a:accent1>
      <a:accent2>
        <a:srgbClr val="00AD1D"/>
      </a:accent2>
      <a:accent3>
        <a:srgbClr val="008233"/>
      </a:accent3>
      <a:accent4>
        <a:srgbClr val="003087"/>
      </a:accent4>
      <a:accent5>
        <a:srgbClr val="002554"/>
      </a:accent5>
      <a:accent6>
        <a:srgbClr val="63666A"/>
      </a:accent6>
      <a:hlink>
        <a:srgbClr val="E0E0E1"/>
      </a:hlink>
      <a:folHlink>
        <a:srgbClr val="B1B2B4"/>
      </a:folHlink>
    </a:clrScheme>
    <a:fontScheme name="사용자 지정 1">
      <a:majorFont>
        <a:latin typeface="HDHyundaiGothicEN Bold"/>
        <a:ea typeface="NO"/>
        <a:cs typeface=""/>
      </a:majorFont>
      <a:minorFont>
        <a:latin typeface="HDHyundaiGothicEN  Regular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een">
      <a:srgbClr val="024638"/>
    </a:custClr>
    <a:custClr name="Gray">
      <a:srgbClr val="63666A"/>
    </a:custClr>
    <a:custClr name="Green Gray">
      <a:srgbClr val="BFCEC2"/>
    </a:custClr>
    <a:custClr name="Blue Gray">
      <a:srgbClr val="DBE2E9"/>
    </a:custClr>
    <a:custClr name="Bright Green">
      <a:srgbClr val="79D97C"/>
    </a:custClr>
    <a:custClr name="Light Green">
      <a:srgbClr val="C7E995"/>
    </a:custClr>
    <a:custClr name="Light Blue">
      <a:srgbClr val="B1E4E3"/>
    </a:custClr>
  </a:custClrLst>
  <a:extLst>
    <a:ext uri="{05A4C25C-085E-4340-85A3-A5531E510DB2}">
      <thm15:themeFamily xmlns:thm15="http://schemas.microsoft.com/office/thememl/2012/main" name="HD PPT template_Noto_20221219" id="{18A37E77-172D-684F-87A7-2BD15A0FFF1C}" vid="{6C95D7EF-9106-9444-98E9-01DC8BAAB77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4F8E29DAF6064BBA6EEBE930439605" ma:contentTypeVersion="11" ma:contentTypeDescription="Create a new document." ma:contentTypeScope="" ma:versionID="671ae0f7c485a746a044c378affc158f">
  <xsd:schema xmlns:xsd="http://www.w3.org/2001/XMLSchema" xmlns:xs="http://www.w3.org/2001/XMLSchema" xmlns:p="http://schemas.microsoft.com/office/2006/metadata/properties" xmlns:ns3="f3280ff0-2757-4a28-854e-98499167869c" targetNamespace="http://schemas.microsoft.com/office/2006/metadata/properties" ma:root="true" ma:fieldsID="8490df4c7ed4ec61cbe2d51c765a1212" ns3:_="">
    <xsd:import namespace="f3280ff0-2757-4a28-854e-98499167869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280ff0-2757-4a28-854e-9849916786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124FC8C-4E00-4D9C-B4F4-DF34515FB7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3280ff0-2757-4a28-854e-98499167869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1A60F61-1BCC-4666-A985-26411DDACEB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7926B0F-2E8A-44B1-B098-50D32BB9E408}">
  <ds:schemaRefs>
    <ds:schemaRef ds:uri="http://schemas.microsoft.com/office/infopath/2007/PartnerControls"/>
    <ds:schemaRef ds:uri="http://purl.org/dc/dcmitype/"/>
    <ds:schemaRef ds:uri="http://schemas.microsoft.com/office/2006/documentManagement/types"/>
    <ds:schemaRef ds:uri="f3280ff0-2757-4a28-854e-98499167869c"/>
    <ds:schemaRef ds:uri="http://www.w3.org/XML/1998/namespace"/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359</TotalTime>
  <Words>621</Words>
  <Application>Microsoft Office PowerPoint</Application>
  <PresentationFormat>와이드스크린</PresentationFormat>
  <Paragraphs>49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9" baseType="lpstr">
      <vt:lpstr>HDHyundaiGothicEN  Light</vt:lpstr>
      <vt:lpstr>HDHyundaiGothicEN  Regular</vt:lpstr>
      <vt:lpstr>HDHyundaiGothicEN Bold</vt:lpstr>
      <vt:lpstr>HD현대체  Light</vt:lpstr>
      <vt:lpstr>HD현대체  Medium</vt:lpstr>
      <vt:lpstr>HD현대체 Bold</vt:lpstr>
      <vt:lpstr>PyeongChang2018 Black</vt:lpstr>
      <vt:lpstr>맑은 고딕</vt:lpstr>
      <vt:lpstr>현대체Bold</vt:lpstr>
      <vt:lpstr>현대체Light</vt:lpstr>
      <vt:lpstr>Arial</vt:lpstr>
      <vt:lpstr>Noto Sans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Lai, Kim</dc:creator>
  <cp:lastModifiedBy>박지원(Park, Jiwon)/책임매니저/배전전략영업과/HD현대일렉트릭</cp:lastModifiedBy>
  <cp:revision>214</cp:revision>
  <dcterms:created xsi:type="dcterms:W3CDTF">2022-12-19T08:05:17Z</dcterms:created>
  <dcterms:modified xsi:type="dcterms:W3CDTF">2026-03-09T07:37:47Z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f1469a-2c2a-4aee-b92b-090d4c5468ff_Enabled">
    <vt:lpwstr>true</vt:lpwstr>
  </property>
  <property fmtid="{D5CDD505-2E9C-101B-9397-08002B2CF9AE}" pid="3" name="MSIP_Label_38f1469a-2c2a-4aee-b92b-090d4c5468ff_SetDate">
    <vt:lpwstr>2022-12-07T07:14:46Z</vt:lpwstr>
  </property>
  <property fmtid="{D5CDD505-2E9C-101B-9397-08002B2CF9AE}" pid="4" name="MSIP_Label_38f1469a-2c2a-4aee-b92b-090d4c5468ff_Method">
    <vt:lpwstr>Standard</vt:lpwstr>
  </property>
  <property fmtid="{D5CDD505-2E9C-101B-9397-08002B2CF9AE}" pid="5" name="MSIP_Label_38f1469a-2c2a-4aee-b92b-090d4c5468ff_Name">
    <vt:lpwstr>Confidential - Unmarked</vt:lpwstr>
  </property>
  <property fmtid="{D5CDD505-2E9C-101B-9397-08002B2CF9AE}" pid="6" name="MSIP_Label_38f1469a-2c2a-4aee-b92b-090d4c5468ff_SiteId">
    <vt:lpwstr>2a6e6092-73e4-4752-b1a5-477a17f5056d</vt:lpwstr>
  </property>
  <property fmtid="{D5CDD505-2E9C-101B-9397-08002B2CF9AE}" pid="7" name="MSIP_Label_38f1469a-2c2a-4aee-b92b-090d4c5468ff_ActionId">
    <vt:lpwstr>2ea41d1e-86d9-4106-bb6c-a3c198ad9f08</vt:lpwstr>
  </property>
  <property fmtid="{D5CDD505-2E9C-101B-9397-08002B2CF9AE}" pid="8" name="MSIP_Label_38f1469a-2c2a-4aee-b92b-090d4c5468ff_ContentBits">
    <vt:lpwstr>0</vt:lpwstr>
  </property>
  <property fmtid="{D5CDD505-2E9C-101B-9397-08002B2CF9AE}" pid="9" name="ContentTypeId">
    <vt:lpwstr>0x010100744F8E29DAF6064BBA6EEBE930439605</vt:lpwstr>
  </property>
</Properties>
</file>